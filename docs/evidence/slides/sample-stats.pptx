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Narx indeksi (bazaviy yil = 100)</c:v>
                </c:pt>
              </c:strCache>
            </c:strRef>
          </c:tx>
          <c:spPr>
            <a:solidFill>
              <a:srgbClr val="059669"/>
            </a:solidFill>
            <a:ln w="381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110</c:v>
                </c:pt>
                <c:pt idx="2">
                  <c:v>121</c:v>
                </c:pt>
                <c:pt idx="3">
                  <c:v>130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F172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475569"/>
                    </a:solidFill>
                    <a:latin typeface="Arial"/>
                  </a:defRPr>
                </a:pPr>
                <a:r>
                  <a:rPr sz="1400" b="0" i="0" u="none" strike="noStrike">
                    <a:solidFill>
                      <a:srgbClr val="475569"/>
                    </a:solidFill>
                    <a:latin typeface="Arial"/>
                  </a:rPr>
                  <a:t>bazaviy yil = 100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Manba: namuna, varaq “Namuna”; namuna-statistika.csv. ustunlar: Yil; Narx indeksi (bazaviy yil = 100); Izoh.
Narx indeksi (bazaviy yil = 100): 2021 — 100; 2022 — 110; 2023 — 121; 2024 — 130
Oʻzgarish (hisoblangan): (130 − 100) / 100 × 100 = 30%
Namuna maʼlumot — haqiqiy statistika emas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Manba: namuna, varaq “Namuna”; namuna-statistika.csv.
Namuna maʼlumot — haqiqiy statistika emas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1"/>
          <p:cNvSpPr/>
          <p:nvPr/>
        </p:nvSpPr>
        <p:spPr>
          <a:xfrm>
            <a:off x="7985455" y="822960"/>
            <a:ext cx="3291840" cy="32918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rect2"/>
          <p:cNvSpPr/>
          <p:nvPr/>
        </p:nvSpPr>
        <p:spPr>
          <a:xfrm>
            <a:off x="9859975" y="3520440"/>
            <a:ext cx="1828800" cy="1828800"/>
          </a:xfrm>
          <a:prstGeom prst="ellipse">
            <a:avLst/>
          </a:prstGeom>
          <a:solidFill>
            <a:srgbClr val="134E4A"/>
          </a:solidFill>
          <a:ln/>
        </p:spPr>
      </p:sp>
      <p:sp>
        <p:nvSpPr>
          <p:cNvPr id="4" name="title"/>
          <p:cNvSpPr txBox="1"/>
          <p:nvPr/>
        </p:nvSpPr>
        <p:spPr>
          <a:xfrm>
            <a:off x="822960" y="2575865"/>
            <a:ext cx="6888175" cy="1341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uz-Latn-UZ" alt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Narx indeksi dinamikasi (namuna)</a:t>
            </a:r>
            <a:endParaRPr lang="uz-Latn-UZ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457200"/>
            <a:ext cx="10820095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uz-Latn-UZ" alt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Maʼlumotlar</a:t>
            </a:r>
            <a:endParaRPr lang="uz-Latn-UZ" sz="1400" dirty="0"/>
          </a:p>
        </p:txBody>
      </p:sp>
      <p:sp>
        <p:nvSpPr>
          <p:cNvPr id="3" name="title"/>
          <p:cNvSpPr txBox="1"/>
          <p:nvPr/>
        </p:nvSpPr>
        <p:spPr>
          <a:xfrm>
            <a:off x="685800" y="725119"/>
            <a:ext cx="10820095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uz-Latn-UZ" alt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Narx indeksi</a:t>
            </a:r>
            <a:endParaRPr lang="uz-Latn-UZ" sz="3400" dirty="0"/>
          </a:p>
        </p:txBody>
      </p:sp>
      <p:sp>
        <p:nvSpPr>
          <p:cNvPr id="4" name="source"/>
          <p:cNvSpPr txBox="1"/>
          <p:nvPr/>
        </p:nvSpPr>
        <p:spPr>
          <a:xfrm>
            <a:off x="685800" y="6327648"/>
            <a:ext cx="9905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uz-Latn-UZ" alt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Manbalar: [1] namuna, varaq “Namuna”; [2] namuna-statistika.csv</a:t>
            </a:r>
            <a:endParaRPr lang="uz-Latn-UZ" sz="1200" dirty="0"/>
          </a:p>
        </p:txBody>
      </p:sp>
      <p:sp>
        <p:nvSpPr>
          <p:cNvPr id="5" name="page"/>
          <p:cNvSpPr txBox="1"/>
          <p:nvPr/>
        </p:nvSpPr>
        <p:spPr>
          <a:xfrm>
            <a:off x="10774375" y="6327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0000"/>
              </a:lnSpc>
              <a:buNone/>
            </a:pPr>
            <a:r>
              <a:rPr lang="uz-Latn-UZ" alt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uz-Latn-UZ" sz="1200" dirty="0"/>
          </a:p>
        </p:txBody>
      </p:sp>
      <p:graphicFrame>
        <p:nvGraphicFramePr>
          <p:cNvPr id="6" name="chart5" descr=""/>
          <p:cNvGraphicFramePr/>
          <p:nvPr/>
        </p:nvGraphicFramePr>
        <p:xfrm>
          <a:off x="685800" y="1563624"/>
          <a:ext cx="6888175" cy="44897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rect6"/>
          <p:cNvSpPr/>
          <p:nvPr/>
        </p:nvSpPr>
        <p:spPr>
          <a:xfrm>
            <a:off x="7939735" y="1563624"/>
            <a:ext cx="3566160" cy="646481"/>
          </a:xfrm>
          <a:prstGeom prst="roundRect">
            <a:avLst>
              <a:gd name="adj" fmla="val 16973"/>
            </a:avLst>
          </a:prstGeom>
          <a:solidFill>
            <a:srgbClr val="FEF3C7"/>
          </a:solidFill>
          <a:ln/>
        </p:spPr>
      </p:sp>
      <p:sp>
        <p:nvSpPr>
          <p:cNvPr id="8" name="example_badge"/>
          <p:cNvSpPr txBox="1"/>
          <p:nvPr/>
        </p:nvSpPr>
        <p:spPr>
          <a:xfrm>
            <a:off x="8122615" y="1673352"/>
            <a:ext cx="3200400" cy="427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uz-Latn-UZ" alt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Namuna maʼlumot — haqiqiy statistika emas</a:t>
            </a:r>
            <a:endParaRPr lang="uz-Latn-UZ" sz="1400" dirty="0"/>
          </a:p>
        </p:txBody>
      </p:sp>
      <p:sp>
        <p:nvSpPr>
          <p:cNvPr id="9" name="rect8"/>
          <p:cNvSpPr/>
          <p:nvPr/>
        </p:nvSpPr>
        <p:spPr>
          <a:xfrm>
            <a:off x="7939735" y="2438705"/>
            <a:ext cx="3566160" cy="2820924"/>
          </a:xfrm>
          <a:prstGeom prst="roundRect">
            <a:avLst>
              <a:gd name="adj" fmla="val 2593"/>
            </a:avLst>
          </a:prstGeom>
          <a:solidFill>
            <a:srgbClr val="ECFDF5"/>
          </a:solidFill>
          <a:ln/>
        </p:spPr>
      </p:sp>
      <p:sp>
        <p:nvSpPr>
          <p:cNvPr id="10" name="takeaway"/>
          <p:cNvSpPr txBox="1"/>
          <p:nvPr/>
        </p:nvSpPr>
        <p:spPr>
          <a:xfrm>
            <a:off x="8214055" y="2713025"/>
            <a:ext cx="3017520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uz-Latn-UZ" altLang="en-US" sz="2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Oʻzgarish 2021–2024: 100 dan 130 gacha (+30; +30%)</a:t>
            </a:r>
            <a:endParaRPr lang="uz-Latn-UZ" sz="2200" dirty="0"/>
          </a:p>
        </p:txBody>
      </p:sp>
      <p:sp>
        <p:nvSpPr>
          <p:cNvPr id="11" name="chart_info"/>
          <p:cNvSpPr txBox="1"/>
          <p:nvPr/>
        </p:nvSpPr>
        <p:spPr>
          <a:xfrm>
            <a:off x="8214055" y="3951122"/>
            <a:ext cx="3017520" cy="99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uz-Latn-UZ" altLang="en-US" sz="16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Birlik: bazaviy yil = 100</a:t>
            </a:r>
            <a:endParaRPr lang="uz-Latn-UZ" sz="1600" dirty="0"/>
          </a:p>
          <a:p>
            <a:pPr algn="l" indent="0" marL="0">
              <a:lnSpc>
                <a:spcPct val="108000"/>
              </a:lnSpc>
              <a:spcBef>
                <a:spcPts val="600"/>
              </a:spcBef>
              <a:buNone/>
            </a:pPr>
            <a:r>
              <a:rPr lang="uz-Latn-UZ" altLang="en-US" sz="16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Davr: 2021–2024</a:t>
            </a:r>
            <a:endParaRPr lang="uz-Latn-UZ" sz="1600" dirty="0"/>
          </a:p>
          <a:p>
            <a:pPr algn="l" indent="0" marL="0">
              <a:lnSpc>
                <a:spcPct val="108000"/>
              </a:lnSpc>
              <a:spcBef>
                <a:spcPts val="600"/>
              </a:spcBef>
              <a:buNone/>
            </a:pPr>
            <a:r>
              <a:rPr lang="uz-Latn-UZ" altLang="en-US" sz="16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Koʻrsatkich: Narx indeksi</a:t>
            </a:r>
            <a:endParaRPr lang="uz-Latn-UZ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457200"/>
            <a:ext cx="10820095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uz-Latn-UZ" alt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Maʼlumotlar</a:t>
            </a:r>
            <a:endParaRPr lang="uz-Latn-UZ" sz="1400" dirty="0"/>
          </a:p>
        </p:txBody>
      </p:sp>
      <p:sp>
        <p:nvSpPr>
          <p:cNvPr id="3" name="title"/>
          <p:cNvSpPr txBox="1"/>
          <p:nvPr/>
        </p:nvSpPr>
        <p:spPr>
          <a:xfrm>
            <a:off x="685800" y="725119"/>
            <a:ext cx="10820095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uz-Latn-UZ" alt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Jadval: Narx indeksi</a:t>
            </a:r>
            <a:endParaRPr lang="uz-Latn-UZ" sz="3400" dirty="0"/>
          </a:p>
        </p:txBody>
      </p:sp>
      <p:sp>
        <p:nvSpPr>
          <p:cNvPr id="4" name="source"/>
          <p:cNvSpPr txBox="1"/>
          <p:nvPr/>
        </p:nvSpPr>
        <p:spPr>
          <a:xfrm>
            <a:off x="685800" y="6327648"/>
            <a:ext cx="9905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uz-Latn-UZ" alt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Manbalar: [1] namuna, varaq “Namuna”; [2] namuna-statistika.csv</a:t>
            </a:r>
            <a:endParaRPr lang="uz-Latn-UZ" sz="1200" dirty="0"/>
          </a:p>
        </p:txBody>
      </p:sp>
      <p:sp>
        <p:nvSpPr>
          <p:cNvPr id="5" name="page"/>
          <p:cNvSpPr txBox="1"/>
          <p:nvPr/>
        </p:nvSpPr>
        <p:spPr>
          <a:xfrm>
            <a:off x="10774375" y="6327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0000"/>
              </a:lnSpc>
              <a:buNone/>
            </a:pPr>
            <a:r>
              <a:rPr lang="uz-Latn-UZ" alt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uz-Latn-UZ" sz="1200" dirty="0"/>
          </a:p>
        </p:txBody>
      </p:sp>
      <p:sp>
        <p:nvSpPr>
          <p:cNvPr id="6" name="rect5"/>
          <p:cNvSpPr/>
          <p:nvPr/>
        </p:nvSpPr>
        <p:spPr>
          <a:xfrm>
            <a:off x="685800" y="1563624"/>
            <a:ext cx="4420210" cy="377647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7" name="example_badge"/>
          <p:cNvSpPr txBox="1"/>
          <p:nvPr/>
        </p:nvSpPr>
        <p:spPr>
          <a:xfrm>
            <a:off x="685800" y="1563624"/>
            <a:ext cx="442021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uz-Latn-UZ" alt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Namuna maʼlumot — haqiqiy statistika emas</a:t>
            </a:r>
            <a:endParaRPr lang="uz-Latn-UZ" sz="1400" dirty="0"/>
          </a:p>
        </p:txBody>
      </p:sp>
      <p:graphicFrame>
        <p:nvGraphicFramePr>
          <p:cNvPr id="4" name="table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24151"/>
          <a:ext cx="10820095" cy="914400"/>
        </p:xfrm>
        <a:graphic>
          <a:graphicData uri="http://schemas.openxmlformats.org/drawingml/2006/table">
            <a:tbl>
              <a:tblPr/>
              <a:tblGrid>
                <a:gridCol w="901598"/>
                <a:gridCol w="4608576"/>
                <a:gridCol w="5309921"/>
              </a:tblGrid>
              <a:tr h="4818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Yil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Narx indeksi (bazaviy yil = 100)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Izoh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818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Oʻquv misoli — haqiqiy statistika emas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8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Oʻquv misoli — haqiqiy statistika emas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18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Oʻquv misoli — haqiqiy statistika emas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8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uz-Latn-UZ" altLang="en-US" sz="2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Oʻquv misoli — haqiqiy statistika emas</a:t>
                      </a:r>
                      <a:endParaRPr lang="uz-Latn-UZ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caption"/>
          <p:cNvSpPr txBox="1"/>
          <p:nvPr/>
        </p:nvSpPr>
        <p:spPr>
          <a:xfrm>
            <a:off x="685800" y="4716475"/>
            <a:ext cx="1082009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uz-Latn-UZ" alt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Ustunlar: Yil, Narx indeksi (bazaviy yil = 100), Izoh</a:t>
            </a:r>
            <a:endParaRPr lang="uz-Latn-UZ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1"/>
          <p:cNvSpPr/>
          <p:nvPr/>
        </p:nvSpPr>
        <p:spPr>
          <a:xfrm>
            <a:off x="7985455" y="822960"/>
            <a:ext cx="3291840" cy="32918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rect2"/>
          <p:cNvSpPr/>
          <p:nvPr/>
        </p:nvSpPr>
        <p:spPr>
          <a:xfrm>
            <a:off x="9859975" y="3520440"/>
            <a:ext cx="1828800" cy="1828800"/>
          </a:xfrm>
          <a:prstGeom prst="ellipse">
            <a:avLst/>
          </a:prstGeom>
          <a:solidFill>
            <a:srgbClr val="134E4A"/>
          </a:solidFill>
          <a:ln/>
        </p:spPr>
      </p:sp>
      <p:sp>
        <p:nvSpPr>
          <p:cNvPr id="4" name="title"/>
          <p:cNvSpPr txBox="1"/>
          <p:nvPr/>
        </p:nvSpPr>
        <p:spPr>
          <a:xfrm>
            <a:off x="822960" y="2378354"/>
            <a:ext cx="688817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uz-Latn-UZ" alt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Savollar</a:t>
            </a:r>
            <a:endParaRPr lang="uz-Latn-UZ" sz="4400" dirty="0"/>
          </a:p>
        </p:txBody>
      </p:sp>
      <p:sp>
        <p:nvSpPr>
          <p:cNvPr id="5" name="subtitle"/>
          <p:cNvSpPr txBox="1"/>
          <p:nvPr/>
        </p:nvSpPr>
        <p:spPr>
          <a:xfrm>
            <a:off x="822960" y="3323844"/>
            <a:ext cx="6888175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uz-Latn-UZ" alt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Eʼtiboringiz uchun rahmat! Savollaringiz boʻlsa, marhamat.</a:t>
            </a:r>
            <a:endParaRPr lang="uz-Latn-UZ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774375" y="6327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0000"/>
              </a:lnSpc>
              <a:buNone/>
            </a:pPr>
            <a:r>
              <a:rPr lang="uz-Latn-UZ" alt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uz-Latn-UZ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820095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uz-Latn-UZ" alt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Foydalanilgan manbalar</a:t>
            </a:r>
            <a:endParaRPr lang="uz-Latn-UZ" sz="3400" dirty="0"/>
          </a:p>
        </p:txBody>
      </p:sp>
      <p:sp>
        <p:nvSpPr>
          <p:cNvPr id="3" name="page"/>
          <p:cNvSpPr txBox="1"/>
          <p:nvPr/>
        </p:nvSpPr>
        <p:spPr>
          <a:xfrm>
            <a:off x="10774375" y="6327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0000"/>
              </a:lnSpc>
              <a:buNone/>
            </a:pPr>
            <a:r>
              <a:rPr lang="uz-Latn-UZ" alt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uz-Latn-UZ" sz="1200" dirty="0"/>
          </a:p>
        </p:txBody>
      </p:sp>
      <p:sp>
        <p:nvSpPr>
          <p:cNvPr id="4" name="body"/>
          <p:cNvSpPr txBox="1"/>
          <p:nvPr/>
        </p:nvSpPr>
        <p:spPr>
          <a:xfrm>
            <a:off x="685800" y="1295705"/>
            <a:ext cx="10820095" cy="999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uz-Latn-UZ" altLang="en-US" sz="2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namuna. — namuna.xlsx, varaq “Namuna”.</a:t>
            </a:r>
            <a:endParaRPr lang="uz-Latn-UZ" sz="2200" dirty="0"/>
          </a:p>
          <a:p>
            <a:pPr algn="l" indent="0" marL="0">
              <a:lnSpc>
                <a:spcPct val="108000"/>
              </a:lnSpc>
              <a:spcBef>
                <a:spcPts val="1300"/>
              </a:spcBef>
              <a:buNone/>
            </a:pPr>
            <a:r>
              <a:rPr lang="uz-Latn-UZ" altLang="en-US" sz="2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namuna-statistika. — namuna-statistika.csv.</a:t>
            </a:r>
            <a:endParaRPr lang="uz-Latn-UZ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TALABA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Narx indeksi dinamikasi (namuna)</dc:title>
  <dc:subject>Narx indeksi dinamikasi (namuna)</dc:subject>
  <dc:creator>TALABA AI</dc:creator>
  <cp:lastModifiedBy>TALABA AI</cp:lastModifiedBy>
  <cp:revision>1</cp:revision>
  <dcterms:created xsi:type="dcterms:W3CDTF">2026-10-15T19:50:03Z</dcterms:created>
  <dcterms:modified xsi:type="dcterms:W3CDTF">2026-10-15T19:50:03Z</dcterms:modified>
</cp:coreProperties>
</file>