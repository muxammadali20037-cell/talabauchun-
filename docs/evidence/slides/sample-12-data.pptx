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1 (kitobda: i)):
Matndagi jadval va raqamlar o‘quv misoli bo‘lib, haqiqiy statistika emas. Iqtisodiyot nazariyasi cheklangan resurslardan cheksiz ehtiyojlarni qondirish uchun qanday foydalanilishini o‘rganadi. Resurslarning cheklanganligi tanlov qilish zaruratini keltirib chiqaradi.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Talab — bu iste’molchilarning ma’lum narxda va ma’lum vaqt oralig‘ida sotib olishga tayyor va qodir bo‘lgan tovar miqdoridir. Talab faqat xohish emas, balki to‘lov qobiliyati bilan ta’minlangan ehtiyojdir.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3 (kitobda: 2)):
Inflyatsiya — bu iqtisodiyotda narxlar umumiy darajasining uzoq muddat davomida barqaror o‘sishidir.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Talabga narxdan tashqari omillar ham ta’sir qiladi: iste’molchilarning daromadi, o‘rinbosar va to‘ldiruvchi tovarlarning narxi, did va afzalliklar hamda kelajakdagi narx haqidagi kutilmalar. Taklif qonuniga ko‘ra, boshqa omillar o‘zgarmagan holda tovar narxi oshsa, taklif miqdori ham ortadi. Yuqori narx ishlab chiqaruvchini ko‘proq mahsulot chiqarishga undaydi.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Tahrirlangan nutq</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4 (kitobda: 3)):
Pul to‘rtta asosiy funksiyani bajaradi: ayirboshlash vositasi, qiymat o‘lchovi, jamg‘arish vositasi va to‘lov vositasi. Markaziy bank mamlakatning pul-kredit siyosatini amalga oshiradi va milliy valyuta barqarorligini ta’minlashga mas’ul bo‘ladi. Markaziy bank asosiy stavkani o‘zgartirish orqali iqtisodiyotdagi kredit narxiga ta’sir qiladi.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Taklifga ishlab chiqarish xarajatlari, texnologiya darajasi, soliqlar va subsidiyalar hamda bozordagi sotuvchilar soni ta’sir ko‘rsatadi. Masalan, yangi texnologiya xarajatlarni kamaytirsa, taklif egri chizig‘i o‘ngga siljiydi.
Manbadagi matn (iqtisodiyot, sahifa 5 (kitobda: 4)):
Masalan, 2022-yilda indeks 110 ga teng bo‘lgani uchun 2021-yilga nisbatan narxlar 10 foizga oshgan.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Manbadagi matn (iqtisodiyot, sahifa 2 (kitobda: 1)):
Agar narx muvozanat narxidan yuqori bo‘lsa, bozorda ortiqcha taklif, ya’ni tovar ortiqchaligi yuzaga keladi.
Manbadagi matn (iqtisodiyot, sahifa 3 (kitobda: 2)):
Inflyatsiya darajasi odatda iste’mol narxlari indeksi orqali o‘lchanadi.
Manbadagi matn (iqtisodiyot, sahifa 4 (kitobda: 3)):
Tijorat banklari aholi va korxonalardan depozitlar qabul qiladi hamda ularni kredit sifatida beradi.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Himoya uchun savol-javob:
Savol: “Talab” nima?
Javob: Talab — bu isteʼmolchilarning maʼlum narxda va maʼlum vaqt oraligʻida sotib olishga tayyor va qodir boʻlgan tovar miqdoridir. (iqtisodiyot, sahifa 2 (kitobda: 1))
Savol: “Inflyatsiya” nima?
Javob: Inflyatsiya — bu iqtisodiyotda narxlar umumiy darajasining uzoq muddat davomida barqaror oʻsishidir. (iqtisodiyot, sahifa 3 (kitobda: 2))
Savol: “Taklif” nima?
Javob: Taklif — bu ishlab chiqaruvchilarning maʼlum narxda va maʼlum vaqt oraligʻida sotishga tayyor boʻlgan tovar miqdoridir. (iqtisodiyot, sahifa 2 (kitobda: 1))
Savol: “deflyatsiya” nima?
Javob: Narxlar umumiy darajasining pasayishi deflyatsiya deb ataladi. (iqtisodiyot, sahifa 3 (kitobda: 2))
Savol: “Bozor muvozanati” nima?
Javob: Bozor muvozanati — bu talab miqdori taklif miqdoriga teng boʻlgan holat. (iqtisodiyot, sahifa 2 (kitobda: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rect1"/>
          <p:cNvSpPr/>
          <p:nvPr/>
        </p:nvSpPr>
        <p:spPr>
          <a:xfrm>
            <a:off x="7985455" y="822960"/>
            <a:ext cx="3291840" cy="3291840"/>
          </a:xfrm>
          <a:prstGeom prst="ellipse">
            <a:avLst/>
          </a:prstGeom>
          <a:solidFill>
            <a:srgbClr val="1E293B"/>
          </a:solidFill>
          <a:ln/>
        </p:spPr>
      </p:sp>
      <p:sp>
        <p:nvSpPr>
          <p:cNvPr id="3" name="rect2"/>
          <p:cNvSpPr/>
          <p:nvPr/>
        </p:nvSpPr>
        <p:spPr>
          <a:xfrm>
            <a:off x="9859975" y="3520440"/>
            <a:ext cx="1828800" cy="1828800"/>
          </a:xfrm>
          <a:prstGeom prst="ellipse">
            <a:avLst/>
          </a:prstGeom>
          <a:solidFill>
            <a:srgbClr val="134E4A"/>
          </a:solidFill>
          <a:ln/>
        </p:spPr>
      </p:sp>
      <p:sp>
        <p:nvSpPr>
          <p:cNvPr id="4" name="title"/>
          <p:cNvSpPr txBox="1"/>
          <p:nvPr/>
        </p:nvSpPr>
        <p:spPr>
          <a:xfrm>
            <a:off x="822960" y="2575865"/>
            <a:ext cx="6888175" cy="1341425"/>
          </a:xfrm>
          <a:prstGeom prst="rect">
            <a:avLst/>
          </a:prstGeom>
          <a:noFill/>
          <a:ln/>
        </p:spPr>
        <p:txBody>
          <a:bodyPr wrap="square" lIns="0" tIns="0" rIns="0" bIns="0" rtlCol="0" anchor="t"/>
          <a:lstStyle/>
          <a:p>
            <a:pPr algn="l" indent="0" marL="0">
              <a:lnSpc>
                <a:spcPct val="100000"/>
              </a:lnSpc>
              <a:buNone/>
            </a:pPr>
            <a:r>
              <a:rPr lang="uz-Latn-UZ" altLang="en-US" sz="4400" b="1" dirty="0">
                <a:solidFill>
                  <a:srgbClr val="F8FAFC"/>
                </a:solidFill>
                <a:latin typeface="Arial" pitchFamily="34" charset="0"/>
                <a:ea typeface="Arial" pitchFamily="34" charset="-122"/>
                <a:cs typeface="Arial" pitchFamily="34" charset="-120"/>
              </a:rPr>
              <a:t>Iqtisodiyot nazariyasi asoslari</a:t>
            </a:r>
            <a:endParaRPr lang="uz-Latn-UZ" sz="4400" dirty="0"/>
          </a:p>
        </p:txBody>
      </p:sp>
      <p:sp>
        <p:nvSpPr>
          <p:cNvPr id="5" name="meta"/>
          <p:cNvSpPr txBox="1"/>
          <p:nvPr/>
        </p:nvSpPr>
        <p:spPr>
          <a:xfrm>
            <a:off x="822960" y="5574182"/>
            <a:ext cx="7985455" cy="643738"/>
          </a:xfrm>
          <a:prstGeom prst="rect">
            <a:avLst/>
          </a:prstGeom>
          <a:noFill/>
          <a:ln/>
        </p:spPr>
        <p:txBody>
          <a:bodyPr wrap="square" lIns="0" tIns="0" rIns="0" bIns="0" rtlCol="0" anchor="t"/>
          <a:lstStyle/>
          <a:p>
            <a:pPr algn="l" indent="0" marL="0">
              <a:lnSpc>
                <a:spcPct val="100000"/>
              </a:lnSpc>
              <a:buNone/>
            </a:pPr>
            <a:r>
              <a:rPr lang="uz-Latn-UZ" altLang="en-US" sz="1800" dirty="0">
                <a:solidFill>
                  <a:srgbClr val="CBD5E1"/>
                </a:solidFill>
                <a:latin typeface="Arial" pitchFamily="34" charset="0"/>
                <a:ea typeface="Arial" pitchFamily="34" charset="-122"/>
                <a:cs typeface="Arial" pitchFamily="34" charset="-120"/>
              </a:rPr>
              <a:t>Muallif: Aliyev Vali</a:t>
            </a:r>
            <a:endParaRPr lang="uz-Latn-UZ" sz="1800" dirty="0"/>
          </a:p>
          <a:p>
            <a:pPr algn="l" indent="0" marL="0">
              <a:lnSpc>
                <a:spcPct val="100000"/>
              </a:lnSpc>
              <a:spcBef>
                <a:spcPts val="400"/>
              </a:spcBef>
              <a:buNone/>
            </a:pPr>
            <a:r>
              <a:rPr lang="uz-Latn-UZ" altLang="en-US" sz="1800" dirty="0">
                <a:solidFill>
                  <a:srgbClr val="CBD5E1"/>
                </a:solidFill>
                <a:latin typeface="Arial" pitchFamily="34" charset="0"/>
                <a:ea typeface="Arial" pitchFamily="34" charset="-122"/>
                <a:cs typeface="Arial" pitchFamily="34" charset="-120"/>
              </a:rPr>
              <a:t>Guruh: IQ-21</a:t>
            </a:r>
            <a:endParaRPr lang="uz-Latn-UZ"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Kirish</a:t>
            </a:r>
            <a:endParaRPr lang="uz-Latn-UZ" sz="3400" dirty="0"/>
          </a:p>
        </p:txBody>
      </p:sp>
      <p:sp>
        <p:nvSpPr>
          <p:cNvPr id="3"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1 (kitobda: i)</a:t>
            </a:r>
            <a:endParaRPr lang="uz-Latn-UZ" sz="1200" dirty="0"/>
          </a:p>
        </p:txBody>
      </p:sp>
      <p:sp>
        <p:nvSpPr>
          <p:cNvPr id="4"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2</a:t>
            </a:r>
            <a:endParaRPr lang="uz-Latn-UZ" sz="1200" dirty="0"/>
          </a:p>
        </p:txBody>
      </p:sp>
      <p:sp>
        <p:nvSpPr>
          <p:cNvPr id="5" name="rect4"/>
          <p:cNvSpPr/>
          <p:nvPr/>
        </p:nvSpPr>
        <p:spPr>
          <a:xfrm>
            <a:off x="685800" y="1295705"/>
            <a:ext cx="10820095" cy="3629254"/>
          </a:xfrm>
          <a:prstGeom prst="roundRect">
            <a:avLst>
              <a:gd name="adj" fmla="val 1512"/>
            </a:avLst>
          </a:prstGeom>
          <a:solidFill>
            <a:srgbClr val="FFFFFF"/>
          </a:solidFill>
          <a:ln w="9525">
            <a:solidFill>
              <a:srgbClr val="E2E8F0"/>
            </a:solidFill>
            <a:prstDash val="solid"/>
          </a:ln>
        </p:spPr>
      </p:sp>
      <p:sp>
        <p:nvSpPr>
          <p:cNvPr id="6" name="body"/>
          <p:cNvSpPr txBox="1"/>
          <p:nvPr/>
        </p:nvSpPr>
        <p:spPr>
          <a:xfrm>
            <a:off x="1005840" y="1615745"/>
            <a:ext cx="10180015" cy="3007462"/>
          </a:xfrm>
          <a:prstGeom prst="rect">
            <a:avLst/>
          </a:prstGeom>
          <a:noFill/>
          <a:ln/>
        </p:spPr>
        <p:txBody>
          <a:bodyPr wrap="square" lIns="0" tIns="0" rIns="0" bIns="0" rtlCol="0" anchor="t"/>
          <a:lstStyle/>
          <a:p>
            <a:pPr algn="l" marL="279400" indent="-279400">
              <a:lnSpc>
                <a:spcPct val="108000"/>
              </a:lnSpc>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Matndagi jadval va raqamlar oʻquv misoli boʻlib, haqiqiy statistika emas.</a:t>
            </a:r>
            <a:endParaRPr lang="uz-Latn-UZ" sz="2600" dirty="0"/>
          </a:p>
          <a:p>
            <a:pPr algn="l" marL="279400" indent="-279400">
              <a:lnSpc>
                <a:spcPct val="108000"/>
              </a:lnSpc>
              <a:spcBef>
                <a:spcPts val="1300"/>
              </a:spcBef>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Iqtisodiyot nazariyasi cheklangan resurslardan cheksiz ehtiyojlarni qondirish uchun qanday foydalanilishini oʻrganadi.</a:t>
            </a:r>
            <a:endParaRPr lang="uz-Latn-UZ" sz="2600" dirty="0"/>
          </a:p>
          <a:p>
            <a:pPr algn="l" marL="279400" indent="-279400">
              <a:lnSpc>
                <a:spcPct val="108000"/>
              </a:lnSpc>
              <a:spcBef>
                <a:spcPts val="1300"/>
              </a:spcBef>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Resurslarning cheklanganligi tanlov qilish zaruratini keltirib chiqaradi.</a:t>
            </a:r>
            <a:endParaRPr lang="uz-Latn-UZ"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Reja</a:t>
            </a:r>
            <a:endParaRPr lang="uz-Latn-UZ" sz="3400" dirty="0"/>
          </a:p>
        </p:txBody>
      </p:sp>
      <p:sp>
        <p:nvSpPr>
          <p:cNvPr id="3"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3</a:t>
            </a:r>
            <a:endParaRPr lang="uz-Latn-UZ" sz="1200" dirty="0"/>
          </a:p>
        </p:txBody>
      </p:sp>
      <p:sp>
        <p:nvSpPr>
          <p:cNvPr id="4" name="rect3"/>
          <p:cNvSpPr/>
          <p:nvPr/>
        </p:nvSpPr>
        <p:spPr>
          <a:xfrm>
            <a:off x="685800" y="2348179"/>
            <a:ext cx="3393338" cy="2377440"/>
          </a:xfrm>
          <a:prstGeom prst="roundRect">
            <a:avLst>
              <a:gd name="adj" fmla="val 3846"/>
            </a:avLst>
          </a:prstGeom>
          <a:solidFill>
            <a:srgbClr val="ECFDF5"/>
          </a:solidFill>
          <a:ln/>
        </p:spPr>
      </p:sp>
      <p:sp>
        <p:nvSpPr>
          <p:cNvPr id="5" name="n1"/>
          <p:cNvSpPr txBox="1"/>
          <p:nvPr/>
        </p:nvSpPr>
        <p:spPr>
          <a:xfrm>
            <a:off x="1005840" y="2668219"/>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0F766E"/>
                </a:solidFill>
                <a:latin typeface="Arial" pitchFamily="34" charset="0"/>
                <a:ea typeface="Arial" pitchFamily="34" charset="-122"/>
                <a:cs typeface="Arial" pitchFamily="34" charset="-120"/>
              </a:rPr>
              <a:t>01</a:t>
            </a:r>
            <a:endParaRPr lang="uz-Latn-UZ" sz="4000" dirty="0"/>
          </a:p>
        </p:txBody>
      </p:sp>
      <p:sp>
        <p:nvSpPr>
          <p:cNvPr id="6" name="item1"/>
          <p:cNvSpPr txBox="1"/>
          <p:nvPr/>
        </p:nvSpPr>
        <p:spPr>
          <a:xfrm>
            <a:off x="1005840" y="3506724"/>
            <a:ext cx="2753258" cy="519379"/>
          </a:xfrm>
          <a:prstGeom prst="rect">
            <a:avLst/>
          </a:prstGeom>
          <a:noFill/>
          <a:ln/>
        </p:spPr>
        <p:txBody>
          <a:bodyPr wrap="square" lIns="0" tIns="0" rIns="0" bIns="0" rtlCol="0" anchor="t"/>
          <a:lstStyle/>
          <a:p>
            <a:pPr algn="l" indent="0" marL="0">
              <a:lnSpc>
                <a:spcPct val="108000"/>
              </a:lnSpc>
              <a:buNone/>
            </a:pPr>
            <a:r>
              <a:rPr lang="uz-Latn-UZ" altLang="en-US" sz="2600" dirty="0">
                <a:solidFill>
                  <a:srgbClr val="064E3B"/>
                </a:solidFill>
                <a:latin typeface="Arial" pitchFamily="34" charset="0"/>
                <a:ea typeface="Arial" pitchFamily="34" charset="-122"/>
                <a:cs typeface="Arial" pitchFamily="34" charset="-120"/>
              </a:rPr>
              <a:t>Talab va taklif</a:t>
            </a:r>
            <a:endParaRPr lang="uz-Latn-UZ" sz="2600" dirty="0"/>
          </a:p>
        </p:txBody>
      </p:sp>
      <p:sp>
        <p:nvSpPr>
          <p:cNvPr id="7" name="rect6"/>
          <p:cNvSpPr/>
          <p:nvPr/>
        </p:nvSpPr>
        <p:spPr>
          <a:xfrm>
            <a:off x="4399178" y="2348179"/>
            <a:ext cx="3393338" cy="2377440"/>
          </a:xfrm>
          <a:prstGeom prst="roundRect">
            <a:avLst>
              <a:gd name="adj" fmla="val 3846"/>
            </a:avLst>
          </a:prstGeom>
          <a:solidFill>
            <a:srgbClr val="ECFDF5"/>
          </a:solidFill>
          <a:ln/>
        </p:spPr>
      </p:sp>
      <p:sp>
        <p:nvSpPr>
          <p:cNvPr id="8" name="n2"/>
          <p:cNvSpPr txBox="1"/>
          <p:nvPr/>
        </p:nvSpPr>
        <p:spPr>
          <a:xfrm>
            <a:off x="4719218" y="2668219"/>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0F766E"/>
                </a:solidFill>
                <a:latin typeface="Arial" pitchFamily="34" charset="0"/>
                <a:ea typeface="Arial" pitchFamily="34" charset="-122"/>
                <a:cs typeface="Arial" pitchFamily="34" charset="-120"/>
              </a:rPr>
              <a:t>02</a:t>
            </a:r>
            <a:endParaRPr lang="uz-Latn-UZ" sz="4000" dirty="0"/>
          </a:p>
        </p:txBody>
      </p:sp>
      <p:sp>
        <p:nvSpPr>
          <p:cNvPr id="9" name="item2"/>
          <p:cNvSpPr txBox="1"/>
          <p:nvPr/>
        </p:nvSpPr>
        <p:spPr>
          <a:xfrm>
            <a:off x="4719218" y="3506724"/>
            <a:ext cx="2753258" cy="519379"/>
          </a:xfrm>
          <a:prstGeom prst="rect">
            <a:avLst/>
          </a:prstGeom>
          <a:noFill/>
          <a:ln/>
        </p:spPr>
        <p:txBody>
          <a:bodyPr wrap="square" lIns="0" tIns="0" rIns="0" bIns="0" rtlCol="0" anchor="t"/>
          <a:lstStyle/>
          <a:p>
            <a:pPr algn="l" indent="0" marL="0">
              <a:lnSpc>
                <a:spcPct val="108000"/>
              </a:lnSpc>
              <a:buNone/>
            </a:pPr>
            <a:r>
              <a:rPr lang="uz-Latn-UZ" altLang="en-US" sz="2600" dirty="0">
                <a:solidFill>
                  <a:srgbClr val="064E3B"/>
                </a:solidFill>
                <a:latin typeface="Arial" pitchFamily="34" charset="0"/>
                <a:ea typeface="Arial" pitchFamily="34" charset="-122"/>
                <a:cs typeface="Arial" pitchFamily="34" charset="-120"/>
              </a:rPr>
              <a:t>Inflyatsiya</a:t>
            </a:r>
            <a:endParaRPr lang="uz-Latn-UZ" sz="2600" dirty="0"/>
          </a:p>
        </p:txBody>
      </p:sp>
      <p:sp>
        <p:nvSpPr>
          <p:cNvPr id="10" name="rect9"/>
          <p:cNvSpPr/>
          <p:nvPr/>
        </p:nvSpPr>
        <p:spPr>
          <a:xfrm>
            <a:off x="8112557" y="2348179"/>
            <a:ext cx="3393338" cy="2377440"/>
          </a:xfrm>
          <a:prstGeom prst="roundRect">
            <a:avLst>
              <a:gd name="adj" fmla="val 3846"/>
            </a:avLst>
          </a:prstGeom>
          <a:solidFill>
            <a:srgbClr val="ECFDF5"/>
          </a:solidFill>
          <a:ln/>
        </p:spPr>
      </p:sp>
      <p:sp>
        <p:nvSpPr>
          <p:cNvPr id="11" name="n3"/>
          <p:cNvSpPr txBox="1"/>
          <p:nvPr/>
        </p:nvSpPr>
        <p:spPr>
          <a:xfrm>
            <a:off x="8432597" y="2668219"/>
            <a:ext cx="2753258"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0F766E"/>
                </a:solidFill>
                <a:latin typeface="Arial" pitchFamily="34" charset="0"/>
                <a:ea typeface="Arial" pitchFamily="34" charset="-122"/>
                <a:cs typeface="Arial" pitchFamily="34" charset="-120"/>
              </a:rPr>
              <a:t>03</a:t>
            </a:r>
            <a:endParaRPr lang="uz-Latn-UZ" sz="4000" dirty="0"/>
          </a:p>
        </p:txBody>
      </p:sp>
      <p:sp>
        <p:nvSpPr>
          <p:cNvPr id="12" name="item3"/>
          <p:cNvSpPr txBox="1"/>
          <p:nvPr/>
        </p:nvSpPr>
        <p:spPr>
          <a:xfrm>
            <a:off x="8432597" y="3506724"/>
            <a:ext cx="2753258" cy="519379"/>
          </a:xfrm>
          <a:prstGeom prst="rect">
            <a:avLst/>
          </a:prstGeom>
          <a:noFill/>
          <a:ln/>
        </p:spPr>
        <p:txBody>
          <a:bodyPr wrap="square" lIns="0" tIns="0" rIns="0" bIns="0" rtlCol="0" anchor="t"/>
          <a:lstStyle/>
          <a:p>
            <a:pPr algn="l" indent="0" marL="0">
              <a:lnSpc>
                <a:spcPct val="108000"/>
              </a:lnSpc>
              <a:buNone/>
            </a:pPr>
            <a:r>
              <a:rPr lang="uz-Latn-UZ" altLang="en-US" sz="2600" dirty="0">
                <a:solidFill>
                  <a:srgbClr val="064E3B"/>
                </a:solidFill>
                <a:latin typeface="Arial" pitchFamily="34" charset="0"/>
                <a:ea typeface="Arial" pitchFamily="34" charset="-122"/>
                <a:cs typeface="Arial" pitchFamily="34" charset="-120"/>
              </a:rPr>
              <a:t>Pul va bank tizimi</a:t>
            </a:r>
            <a:endParaRPr lang="uz-Latn-UZ"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0F766E"/>
                </a:solidFill>
                <a:latin typeface="Arial" pitchFamily="34" charset="0"/>
                <a:ea typeface="Arial" pitchFamily="34" charset="-122"/>
                <a:cs typeface="Arial" pitchFamily="34" charset="-120"/>
              </a:rPr>
              <a:t>1-bob</a:t>
            </a:r>
            <a:endParaRPr lang="uz-Latn-UZ" sz="1400" dirty="0"/>
          </a:p>
        </p:txBody>
      </p:sp>
      <p:sp>
        <p:nvSpPr>
          <p:cNvPr id="3" name="title"/>
          <p:cNvSpPr txBox="1"/>
          <p:nvPr/>
        </p:nvSpPr>
        <p:spPr>
          <a:xfrm>
            <a:off x="685800" y="725119"/>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Talab tushunchasi</a:t>
            </a:r>
            <a:endParaRPr lang="uz-Latn-UZ" sz="34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2 (kitobda: 1)</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4</a:t>
            </a:r>
            <a:endParaRPr lang="uz-Latn-UZ" sz="1200" dirty="0"/>
          </a:p>
        </p:txBody>
      </p:sp>
      <p:sp>
        <p:nvSpPr>
          <p:cNvPr id="6" name="rect5"/>
          <p:cNvSpPr/>
          <p:nvPr/>
        </p:nvSpPr>
        <p:spPr>
          <a:xfrm>
            <a:off x="685800" y="1736446"/>
            <a:ext cx="10820095" cy="3596335"/>
          </a:xfrm>
          <a:prstGeom prst="roundRect">
            <a:avLst>
              <a:gd name="adj" fmla="val 1526"/>
            </a:avLst>
          </a:prstGeom>
          <a:solidFill>
            <a:srgbClr val="ECFDF5"/>
          </a:solidFill>
          <a:ln/>
        </p:spPr>
      </p:sp>
      <p:sp>
        <p:nvSpPr>
          <p:cNvPr id="7" name="term"/>
          <p:cNvSpPr txBox="1"/>
          <p:nvPr/>
        </p:nvSpPr>
        <p:spPr>
          <a:xfrm>
            <a:off x="1097280" y="2147926"/>
            <a:ext cx="9997135"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0F766E"/>
                </a:solidFill>
                <a:latin typeface="Arial" pitchFamily="34" charset="0"/>
                <a:ea typeface="Arial" pitchFamily="34" charset="-122"/>
                <a:cs typeface="Arial" pitchFamily="34" charset="-120"/>
              </a:rPr>
              <a:t>Talab</a:t>
            </a:r>
            <a:endParaRPr lang="uz-Latn-UZ" sz="4000" dirty="0"/>
          </a:p>
        </p:txBody>
      </p:sp>
      <p:sp>
        <p:nvSpPr>
          <p:cNvPr id="8" name="body"/>
          <p:cNvSpPr txBox="1"/>
          <p:nvPr/>
        </p:nvSpPr>
        <p:spPr>
          <a:xfrm>
            <a:off x="1097280" y="2985516"/>
            <a:ext cx="9997135" cy="1953158"/>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064E3B"/>
                </a:solidFill>
                <a:latin typeface="Arial" pitchFamily="34" charset="0"/>
                <a:ea typeface="Arial" pitchFamily="34" charset="-122"/>
                <a:cs typeface="Arial" pitchFamily="34" charset="-120"/>
              </a:rPr>
              <a:t>Talab — bu isteʼmolchilarning maʼlum narxda va maʼlum vaqt oraligʻida sotib olishga tayyor va qodir boʻlgan tovar miqdoridir. Talab faqat xohish emas, balki toʻlov qobiliyati bilan taʼminlangan ehtiyojdir.</a:t>
            </a:r>
            <a:endParaRPr lang="uz-Latn-UZ" sz="2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0F766E"/>
                </a:solidFill>
                <a:latin typeface="Arial" pitchFamily="34" charset="0"/>
                <a:ea typeface="Arial" pitchFamily="34" charset="-122"/>
                <a:cs typeface="Arial" pitchFamily="34" charset="-120"/>
              </a:rPr>
              <a:t>2-bob</a:t>
            </a:r>
            <a:endParaRPr lang="uz-Latn-UZ" sz="1400" dirty="0"/>
          </a:p>
        </p:txBody>
      </p:sp>
      <p:sp>
        <p:nvSpPr>
          <p:cNvPr id="3" name="title"/>
          <p:cNvSpPr txBox="1"/>
          <p:nvPr/>
        </p:nvSpPr>
        <p:spPr>
          <a:xfrm>
            <a:off x="685800" y="725119"/>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Inflyatsiya tushunchasi</a:t>
            </a:r>
            <a:endParaRPr lang="uz-Latn-UZ" sz="34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3 (kitobda: 2)</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5</a:t>
            </a:r>
            <a:endParaRPr lang="uz-Latn-UZ" sz="1200" dirty="0"/>
          </a:p>
        </p:txBody>
      </p:sp>
      <p:sp>
        <p:nvSpPr>
          <p:cNvPr id="6" name="rect5"/>
          <p:cNvSpPr/>
          <p:nvPr/>
        </p:nvSpPr>
        <p:spPr>
          <a:xfrm>
            <a:off x="685800" y="2197303"/>
            <a:ext cx="10820095" cy="2674620"/>
          </a:xfrm>
          <a:prstGeom prst="roundRect">
            <a:avLst>
              <a:gd name="adj" fmla="val 2051"/>
            </a:avLst>
          </a:prstGeom>
          <a:solidFill>
            <a:srgbClr val="ECFDF5"/>
          </a:solidFill>
          <a:ln/>
        </p:spPr>
      </p:sp>
      <p:sp>
        <p:nvSpPr>
          <p:cNvPr id="7" name="term"/>
          <p:cNvSpPr txBox="1"/>
          <p:nvPr/>
        </p:nvSpPr>
        <p:spPr>
          <a:xfrm>
            <a:off x="1097280" y="2608783"/>
            <a:ext cx="9997135" cy="609905"/>
          </a:xfrm>
          <a:prstGeom prst="rect">
            <a:avLst/>
          </a:prstGeom>
          <a:noFill/>
          <a:ln/>
        </p:spPr>
        <p:txBody>
          <a:bodyPr wrap="square" lIns="0" tIns="0" rIns="0" bIns="0" rtlCol="0" anchor="t"/>
          <a:lstStyle/>
          <a:p>
            <a:pPr algn="l" indent="0" marL="0">
              <a:lnSpc>
                <a:spcPct val="100000"/>
              </a:lnSpc>
              <a:buNone/>
            </a:pPr>
            <a:r>
              <a:rPr lang="uz-Latn-UZ" altLang="en-US" sz="4000" b="1" dirty="0">
                <a:solidFill>
                  <a:srgbClr val="0F766E"/>
                </a:solidFill>
                <a:latin typeface="Arial" pitchFamily="34" charset="0"/>
                <a:ea typeface="Arial" pitchFamily="34" charset="-122"/>
                <a:cs typeface="Arial" pitchFamily="34" charset="-120"/>
              </a:rPr>
              <a:t>Inflyatsiya</a:t>
            </a:r>
            <a:endParaRPr lang="uz-Latn-UZ" sz="4000" dirty="0"/>
          </a:p>
        </p:txBody>
      </p:sp>
      <p:sp>
        <p:nvSpPr>
          <p:cNvPr id="8" name="body"/>
          <p:cNvSpPr txBox="1"/>
          <p:nvPr/>
        </p:nvSpPr>
        <p:spPr>
          <a:xfrm>
            <a:off x="1097280" y="3446374"/>
            <a:ext cx="9997135" cy="1031443"/>
          </a:xfrm>
          <a:prstGeom prst="rect">
            <a:avLst/>
          </a:prstGeom>
          <a:noFill/>
          <a:ln/>
        </p:spPr>
        <p:txBody>
          <a:bodyPr wrap="square" lIns="0" tIns="0" rIns="0" bIns="0" rtlCol="0" anchor="t"/>
          <a:lstStyle/>
          <a:p>
            <a:pPr algn="l" indent="0" marL="0">
              <a:lnSpc>
                <a:spcPct val="108000"/>
              </a:lnSpc>
              <a:buNone/>
            </a:pPr>
            <a:r>
              <a:rPr lang="uz-Latn-UZ" altLang="en-US" sz="2800" dirty="0">
                <a:solidFill>
                  <a:srgbClr val="064E3B"/>
                </a:solidFill>
                <a:latin typeface="Arial" pitchFamily="34" charset="0"/>
                <a:ea typeface="Arial" pitchFamily="34" charset="-122"/>
                <a:cs typeface="Arial" pitchFamily="34" charset="-120"/>
              </a:rPr>
              <a:t>Inflyatsiya — bu iqtisodiyotda narxlar umumiy darajasining uzoq muddat davomida barqaror oʻsishidir.</a:t>
            </a:r>
            <a:endParaRPr lang="uz-Latn-UZ" sz="2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0F766E"/>
                </a:solidFill>
                <a:latin typeface="Arial" pitchFamily="34" charset="0"/>
                <a:ea typeface="Arial" pitchFamily="34" charset="-122"/>
                <a:cs typeface="Arial" pitchFamily="34" charset="-120"/>
              </a:rPr>
              <a:t>1-bob</a:t>
            </a:r>
            <a:endParaRPr lang="uz-Latn-UZ" sz="1400" dirty="0"/>
          </a:p>
        </p:txBody>
      </p:sp>
      <p:sp>
        <p:nvSpPr>
          <p:cNvPr id="3" name="title"/>
          <p:cNvSpPr txBox="1"/>
          <p:nvPr/>
        </p:nvSpPr>
        <p:spPr>
          <a:xfrm>
            <a:off x="685800" y="725119"/>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Talab va taklif</a:t>
            </a:r>
            <a:endParaRPr lang="uz-Latn-UZ" sz="34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2 (kitobda: 1)</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6</a:t>
            </a:r>
            <a:endParaRPr lang="uz-Latn-UZ" sz="1200" dirty="0"/>
          </a:p>
        </p:txBody>
      </p:sp>
      <p:sp>
        <p:nvSpPr>
          <p:cNvPr id="6" name="rect5"/>
          <p:cNvSpPr/>
          <p:nvPr/>
        </p:nvSpPr>
        <p:spPr>
          <a:xfrm>
            <a:off x="685800" y="1563624"/>
            <a:ext cx="5227625" cy="4343400"/>
          </a:xfrm>
          <a:prstGeom prst="roundRect">
            <a:avLst>
              <a:gd name="adj" fmla="val 1263"/>
            </a:avLst>
          </a:prstGeom>
          <a:solidFill>
            <a:srgbClr val="FFFFFF"/>
          </a:solidFill>
          <a:ln w="9525">
            <a:solidFill>
              <a:srgbClr val="E2E8F0"/>
            </a:solidFill>
            <a:prstDash val="solid"/>
          </a:ln>
        </p:spPr>
      </p:sp>
      <p:sp>
        <p:nvSpPr>
          <p:cNvPr id="7" name="left"/>
          <p:cNvSpPr txBox="1"/>
          <p:nvPr/>
        </p:nvSpPr>
        <p:spPr>
          <a:xfrm>
            <a:off x="960120" y="1837944"/>
            <a:ext cx="4678985" cy="3813048"/>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0F766E"/>
                </a:solidFill>
                <a:latin typeface="Arial" pitchFamily="34" charset="0"/>
                <a:ea typeface="Arial" pitchFamily="34" charset="-122"/>
                <a:cs typeface="Arial" pitchFamily="34" charset="-120"/>
              </a:rPr>
              <a:t>Talab tushunchasi</a:t>
            </a:r>
            <a:endParaRPr lang="uz-Latn-UZ" sz="2200" dirty="0"/>
          </a:p>
          <a:p>
            <a:pPr algn="l" marL="279400" indent="-279400">
              <a:lnSpc>
                <a:spcPct val="108000"/>
              </a:lnSpc>
              <a:spcBef>
                <a:spcPts val="11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Talabga narxdan tashqari omillar ham taʼsir qiladi:</a:t>
            </a:r>
            <a:endParaRPr lang="uz-Latn-UZ" sz="2200" dirty="0"/>
          </a:p>
          <a:p>
            <a:pPr algn="l" lvl="1" marL="558800" indent="-279400">
              <a:lnSpc>
                <a:spcPct val="108000"/>
              </a:lnSpc>
              <a:spcBef>
                <a:spcPts val="6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isteʼmolchilarning daromadi</a:t>
            </a:r>
            <a:endParaRPr lang="uz-Latn-UZ" sz="2200" dirty="0"/>
          </a:p>
          <a:p>
            <a:pPr algn="l" lvl="1" marL="558800" indent="-279400">
              <a:lnSpc>
                <a:spcPct val="108000"/>
              </a:lnSpc>
              <a:spcBef>
                <a:spcPts val="6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oʻrinbosar va toʻldiruvchi tovarlarning narxi</a:t>
            </a:r>
            <a:endParaRPr lang="uz-Latn-UZ" sz="2200" dirty="0"/>
          </a:p>
          <a:p>
            <a:pPr algn="l" lvl="1" marL="558800" indent="-279400">
              <a:lnSpc>
                <a:spcPct val="108000"/>
              </a:lnSpc>
              <a:spcBef>
                <a:spcPts val="6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did va afzalliklar</a:t>
            </a:r>
            <a:endParaRPr lang="uz-Latn-UZ" sz="2200" dirty="0"/>
          </a:p>
          <a:p>
            <a:pPr algn="l" lvl="1" marL="558800" indent="-279400">
              <a:lnSpc>
                <a:spcPct val="108000"/>
              </a:lnSpc>
              <a:spcBef>
                <a:spcPts val="6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kelajakdagi narx haqidagi kutilmalar</a:t>
            </a:r>
            <a:endParaRPr lang="uz-Latn-UZ" sz="2200" dirty="0"/>
          </a:p>
        </p:txBody>
      </p:sp>
      <p:sp>
        <p:nvSpPr>
          <p:cNvPr id="8" name="rect7"/>
          <p:cNvSpPr/>
          <p:nvPr/>
        </p:nvSpPr>
        <p:spPr>
          <a:xfrm>
            <a:off x="6279185" y="1563624"/>
            <a:ext cx="5227625" cy="4343400"/>
          </a:xfrm>
          <a:prstGeom prst="roundRect">
            <a:avLst>
              <a:gd name="adj" fmla="val 1263"/>
            </a:avLst>
          </a:prstGeom>
          <a:solidFill>
            <a:srgbClr val="ECFDF5"/>
          </a:solidFill>
          <a:ln/>
        </p:spPr>
      </p:sp>
      <p:sp>
        <p:nvSpPr>
          <p:cNvPr id="9" name="right"/>
          <p:cNvSpPr txBox="1"/>
          <p:nvPr/>
        </p:nvSpPr>
        <p:spPr>
          <a:xfrm>
            <a:off x="6553505" y="1837944"/>
            <a:ext cx="4678985" cy="3286354"/>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0F766E"/>
                </a:solidFill>
                <a:latin typeface="Arial" pitchFamily="34" charset="0"/>
                <a:ea typeface="Arial" pitchFamily="34" charset="-122"/>
                <a:cs typeface="Arial" pitchFamily="34" charset="-120"/>
              </a:rPr>
              <a:t>Taklif tushunchasi</a:t>
            </a:r>
            <a:endParaRPr lang="uz-Latn-UZ" sz="2200" dirty="0"/>
          </a:p>
          <a:p>
            <a:pPr algn="l" marL="279400" indent="-279400">
              <a:lnSpc>
                <a:spcPct val="108000"/>
              </a:lnSpc>
              <a:spcBef>
                <a:spcPts val="1100"/>
              </a:spcBef>
              <a:buClr>
                <a:srgbClr val="0F766E"/>
              </a:buClr>
              <a:buSzPct val="100000"/>
              <a:buChar char="•"/>
            </a:pPr>
            <a:r>
              <a:rPr lang="uz-Latn-UZ" altLang="en-US" sz="2200" dirty="0">
                <a:solidFill>
                  <a:srgbClr val="064E3B"/>
                </a:solidFill>
                <a:latin typeface="Arial" pitchFamily="34" charset="0"/>
                <a:ea typeface="Arial" pitchFamily="34" charset="-122"/>
                <a:cs typeface="Arial" pitchFamily="34" charset="-120"/>
              </a:rPr>
              <a:t>Taklif qonuniga koʻra, boshqa omillar oʻzgarmagan holda tovar narxi oshsa, taklif miqdori ham ortadi.</a:t>
            </a:r>
            <a:endParaRPr lang="uz-Latn-UZ" sz="2200" dirty="0"/>
          </a:p>
          <a:p>
            <a:pPr algn="l" marL="279400" indent="-279400">
              <a:lnSpc>
                <a:spcPct val="108000"/>
              </a:lnSpc>
              <a:spcBef>
                <a:spcPts val="1100"/>
              </a:spcBef>
              <a:buClr>
                <a:srgbClr val="0F766E"/>
              </a:buClr>
              <a:buSzPct val="100000"/>
              <a:buChar char="•"/>
            </a:pPr>
            <a:r>
              <a:rPr lang="uz-Latn-UZ" altLang="en-US" sz="2200" dirty="0">
                <a:solidFill>
                  <a:srgbClr val="064E3B"/>
                </a:solidFill>
                <a:latin typeface="Arial" pitchFamily="34" charset="0"/>
                <a:ea typeface="Arial" pitchFamily="34" charset="-122"/>
                <a:cs typeface="Arial" pitchFamily="34" charset="-120"/>
              </a:rPr>
              <a:t>Yuqori narx ishlab chiqaruvchini koʻproq mahsulot chiqarishga undaydi.</a:t>
            </a:r>
            <a:endParaRPr lang="uz-Latn-UZ"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0F766E"/>
                </a:solidFill>
                <a:latin typeface="Arial" pitchFamily="34" charset="0"/>
                <a:ea typeface="Arial" pitchFamily="34" charset="-122"/>
                <a:cs typeface="Arial" pitchFamily="34" charset="-120"/>
              </a:rPr>
              <a:t>2-bob</a:t>
            </a:r>
            <a:endParaRPr lang="uz-Latn-UZ" sz="1400" dirty="0"/>
          </a:p>
        </p:txBody>
      </p:sp>
      <p:sp>
        <p:nvSpPr>
          <p:cNvPr id="3" name="title"/>
          <p:cNvSpPr txBox="1"/>
          <p:nvPr/>
        </p:nvSpPr>
        <p:spPr>
          <a:xfrm>
            <a:off x="685800" y="725119"/>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Inflyatsiya</a:t>
            </a:r>
            <a:endParaRPr lang="uz-Latn-UZ" sz="34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3 (kitobda: 2)</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7</a:t>
            </a:r>
            <a:endParaRPr lang="uz-Latn-UZ" sz="1200" dirty="0"/>
          </a:p>
        </p:txBody>
      </p:sp>
      <p:sp>
        <p:nvSpPr>
          <p:cNvPr id="6" name="rect5"/>
          <p:cNvSpPr/>
          <p:nvPr/>
        </p:nvSpPr>
        <p:spPr>
          <a:xfrm>
            <a:off x="685800" y="1563624"/>
            <a:ext cx="10820095" cy="4348886"/>
          </a:xfrm>
          <a:prstGeom prst="roundRect">
            <a:avLst>
              <a:gd name="adj" fmla="val 1262"/>
            </a:avLst>
          </a:prstGeom>
          <a:solidFill>
            <a:srgbClr val="FFFFFF"/>
          </a:solidFill>
          <a:ln w="9525">
            <a:solidFill>
              <a:srgbClr val="E2E8F0"/>
            </a:solidFill>
            <a:prstDash val="solid"/>
          </a:ln>
        </p:spPr>
      </p:sp>
      <p:sp>
        <p:nvSpPr>
          <p:cNvPr id="7" name="body"/>
          <p:cNvSpPr txBox="1"/>
          <p:nvPr/>
        </p:nvSpPr>
        <p:spPr>
          <a:xfrm>
            <a:off x="1005840" y="1883664"/>
            <a:ext cx="10180015" cy="3727094"/>
          </a:xfrm>
          <a:prstGeom prst="rect">
            <a:avLst/>
          </a:prstGeom>
          <a:noFill/>
          <a:ln/>
        </p:spPr>
        <p:txBody>
          <a:bodyPr wrap="square" lIns="0" tIns="0" rIns="0" bIns="0" rtlCol="0" anchor="t"/>
          <a:lstStyle/>
          <a:p>
            <a:pPr algn="l" marL="279400" indent="-279400">
              <a:lnSpc>
                <a:spcPct val="108000"/>
              </a:lnSpc>
              <a:buClr>
                <a:srgbClr val="0F766E"/>
              </a:buClr>
              <a:buSzPct val="100000"/>
              <a:buChar char="•"/>
            </a:pPr>
            <a:r>
              <a:rPr lang="uz-Latn-UZ" altLang="en-US" sz="2400" dirty="0">
                <a:solidFill>
                  <a:srgbClr val="0F172A"/>
                </a:solidFill>
                <a:latin typeface="Arial" pitchFamily="34" charset="0"/>
                <a:ea typeface="Arial" pitchFamily="34" charset="-122"/>
                <a:cs typeface="Arial" pitchFamily="34" charset="-120"/>
              </a:rPr>
              <a:t>Oʻzbekistonda taʼlim va gʻalla: ўқғҳ — kirill harflari ham buzilmaydi.</a:t>
            </a:r>
            <a:endParaRPr lang="uz-Latn-UZ" sz="2400" dirty="0"/>
          </a:p>
          <a:p>
            <a:pPr algn="l" marL="279400" indent="-279400">
              <a:lnSpc>
                <a:spcPct val="108000"/>
              </a:lnSpc>
              <a:spcBef>
                <a:spcPts val="1200"/>
              </a:spcBef>
              <a:buClr>
                <a:srgbClr val="0F766E"/>
              </a:buClr>
              <a:buSzPct val="100000"/>
              <a:buChar char="•"/>
            </a:pPr>
            <a:r>
              <a:rPr lang="uz-Latn-UZ" altLang="en-US" sz="2400" dirty="0">
                <a:solidFill>
                  <a:srgbClr val="0F172A"/>
                </a:solidFill>
                <a:latin typeface="Arial" pitchFamily="34" charset="0"/>
                <a:ea typeface="Arial" pitchFamily="34" charset="-122"/>
                <a:cs typeface="Arial" pitchFamily="34" charset="-120"/>
              </a:rPr>
              <a:t>Xarajatlar inflyatsiyasi esa ishlab chiqarish xarajatlari, masalan, xomashyo yoki ish haqi oshganda paydo boʻladi.</a:t>
            </a:r>
            <a:endParaRPr lang="uz-Latn-UZ" sz="2400" dirty="0"/>
          </a:p>
          <a:p>
            <a:pPr algn="l" marL="279400" indent="-279400">
              <a:lnSpc>
                <a:spcPct val="108000"/>
              </a:lnSpc>
              <a:spcBef>
                <a:spcPts val="1200"/>
              </a:spcBef>
              <a:buClr>
                <a:srgbClr val="0F766E"/>
              </a:buClr>
              <a:buSzPct val="100000"/>
              <a:buChar char="•"/>
            </a:pPr>
            <a:r>
              <a:rPr lang="uz-Latn-UZ" altLang="en-US" sz="2400" dirty="0">
                <a:solidFill>
                  <a:srgbClr val="0F172A"/>
                </a:solidFill>
                <a:latin typeface="Arial" pitchFamily="34" charset="0"/>
                <a:ea typeface="Arial" pitchFamily="34" charset="-122"/>
                <a:cs typeface="Arial" pitchFamily="34" charset="-120"/>
              </a:rPr>
              <a:t>Isteʼmol narxlari indeksi isteʼmol savatidagi tovar va xizmatlar narxining tanlangan bazaviy davrga nisbatan oʻzgarishini koʻrsatadi.</a:t>
            </a:r>
            <a:endParaRPr lang="uz-Latn-UZ" sz="2400" dirty="0"/>
          </a:p>
          <a:p>
            <a:pPr algn="l" marL="279400" indent="-279400">
              <a:lnSpc>
                <a:spcPct val="108000"/>
              </a:lnSpc>
              <a:spcBef>
                <a:spcPts val="1200"/>
              </a:spcBef>
              <a:buClr>
                <a:srgbClr val="0F766E"/>
              </a:buClr>
              <a:buSzPct val="100000"/>
              <a:buChar char="•"/>
            </a:pPr>
            <a:r>
              <a:rPr lang="uz-Latn-UZ" altLang="en-US" sz="2400" dirty="0">
                <a:solidFill>
                  <a:srgbClr val="0F172A"/>
                </a:solidFill>
                <a:latin typeface="Arial" pitchFamily="34" charset="0"/>
                <a:ea typeface="Arial" pitchFamily="34" charset="-122"/>
                <a:cs typeface="Arial" pitchFamily="34" charset="-120"/>
              </a:rPr>
              <a:t>Inflyatsiya surʼati joriy davr indeksidan oldingi davr indeksini ayirib, natijani oldingi davr indeksiga boʻlish va yuzga koʻpaytirish orqali hisoblanadi.</a:t>
            </a:r>
            <a:endParaRPr lang="uz-Latn-UZ"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p:bgPr>
    </p:bg>
    <p:spTree>
      <p:nvGrpSpPr>
        <p:cNvPr id="1" name=""/>
        <p:cNvGrpSpPr/>
        <p:nvPr/>
      </p:nvGrpSpPr>
      <p:grpSpPr>
        <a:xfrm>
          <a:off x="0" y="0"/>
          <a:ext cx="0" cy="0"/>
          <a:chOff x="0" y="0"/>
          <a:chExt cx="0" cy="0"/>
        </a:xfrm>
      </p:grpSpPr>
      <p:sp>
        <p:nvSpPr>
          <p:cNvPr id="2" name="kicker"/>
          <p:cNvSpPr txBox="1"/>
          <p:nvPr/>
        </p:nvSpPr>
        <p:spPr>
          <a:xfrm>
            <a:off x="685800" y="457200"/>
            <a:ext cx="10820095" cy="213055"/>
          </a:xfrm>
          <a:prstGeom prst="rect">
            <a:avLst/>
          </a:prstGeom>
          <a:noFill/>
          <a:ln/>
        </p:spPr>
        <p:txBody>
          <a:bodyPr wrap="square" lIns="0" tIns="0" rIns="0" bIns="0" rtlCol="0" anchor="t"/>
          <a:lstStyle/>
          <a:p>
            <a:pPr algn="l" indent="0" marL="0">
              <a:lnSpc>
                <a:spcPct val="100000"/>
              </a:lnSpc>
              <a:buNone/>
            </a:pPr>
            <a:r>
              <a:rPr lang="uz-Latn-UZ" altLang="en-US" sz="1400" b="1" dirty="0">
                <a:solidFill>
                  <a:srgbClr val="0F766E"/>
                </a:solidFill>
                <a:latin typeface="Arial" pitchFamily="34" charset="0"/>
                <a:ea typeface="Arial" pitchFamily="34" charset="-122"/>
                <a:cs typeface="Arial" pitchFamily="34" charset="-120"/>
              </a:rPr>
              <a:t>3-bob</a:t>
            </a:r>
            <a:endParaRPr lang="uz-Latn-UZ" sz="1400" dirty="0"/>
          </a:p>
        </p:txBody>
      </p:sp>
      <p:sp>
        <p:nvSpPr>
          <p:cNvPr id="3" name="title"/>
          <p:cNvSpPr txBox="1"/>
          <p:nvPr/>
        </p:nvSpPr>
        <p:spPr>
          <a:xfrm>
            <a:off x="685800" y="725119"/>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Pul va bank tizimi</a:t>
            </a:r>
            <a:endParaRPr lang="uz-Latn-UZ" sz="3400" dirty="0"/>
          </a:p>
        </p:txBody>
      </p:sp>
      <p:sp>
        <p:nvSpPr>
          <p:cNvPr id="4"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 iqtisodiyot, sahifa 4 (kitobda: 3)</a:t>
            </a:r>
            <a:endParaRPr lang="uz-Latn-UZ" sz="1200" dirty="0"/>
          </a:p>
        </p:txBody>
      </p:sp>
      <p:sp>
        <p:nvSpPr>
          <p:cNvPr id="5"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8</a:t>
            </a:r>
            <a:endParaRPr lang="uz-Latn-UZ" sz="1200" dirty="0"/>
          </a:p>
        </p:txBody>
      </p:sp>
      <p:sp>
        <p:nvSpPr>
          <p:cNvPr id="6" name="rect5"/>
          <p:cNvSpPr/>
          <p:nvPr/>
        </p:nvSpPr>
        <p:spPr>
          <a:xfrm>
            <a:off x="685800" y="1563624"/>
            <a:ext cx="5227625" cy="4178808"/>
          </a:xfrm>
          <a:prstGeom prst="roundRect">
            <a:avLst>
              <a:gd name="adj" fmla="val 1313"/>
            </a:avLst>
          </a:prstGeom>
          <a:solidFill>
            <a:srgbClr val="FFFFFF"/>
          </a:solidFill>
          <a:ln w="9525">
            <a:solidFill>
              <a:srgbClr val="E2E8F0"/>
            </a:solidFill>
            <a:prstDash val="solid"/>
          </a:ln>
        </p:spPr>
      </p:sp>
      <p:sp>
        <p:nvSpPr>
          <p:cNvPr id="7" name="left"/>
          <p:cNvSpPr txBox="1"/>
          <p:nvPr/>
        </p:nvSpPr>
        <p:spPr>
          <a:xfrm>
            <a:off x="960120" y="1837944"/>
            <a:ext cx="4678985" cy="3012948"/>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0F766E"/>
                </a:solidFill>
                <a:latin typeface="Arial" pitchFamily="34" charset="0"/>
                <a:ea typeface="Arial" pitchFamily="34" charset="-122"/>
                <a:cs typeface="Arial" pitchFamily="34" charset="-120"/>
              </a:rPr>
              <a:t>Pulning funksiyalari</a:t>
            </a:r>
            <a:endParaRPr lang="uz-Latn-UZ" sz="2200" dirty="0"/>
          </a:p>
          <a:p>
            <a:pPr algn="l" marL="279400" indent="-279400">
              <a:lnSpc>
                <a:spcPct val="108000"/>
              </a:lnSpc>
              <a:spcBef>
                <a:spcPts val="11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Pul toʻrtta asosiy funksiyani bajaradi:</a:t>
            </a:r>
            <a:endParaRPr lang="uz-Latn-UZ" sz="2200" dirty="0"/>
          </a:p>
          <a:p>
            <a:pPr algn="l" lvl="1" marL="558800" indent="-279400">
              <a:lnSpc>
                <a:spcPct val="108000"/>
              </a:lnSpc>
              <a:spcBef>
                <a:spcPts val="6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ayirboshlash vositasi</a:t>
            </a:r>
            <a:endParaRPr lang="uz-Latn-UZ" sz="2200" dirty="0"/>
          </a:p>
          <a:p>
            <a:pPr algn="l" lvl="1" marL="558800" indent="-279400">
              <a:lnSpc>
                <a:spcPct val="108000"/>
              </a:lnSpc>
              <a:spcBef>
                <a:spcPts val="6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qiymat oʻlchovi</a:t>
            </a:r>
            <a:endParaRPr lang="uz-Latn-UZ" sz="2200" dirty="0"/>
          </a:p>
          <a:p>
            <a:pPr algn="l" lvl="1" marL="558800" indent="-279400">
              <a:lnSpc>
                <a:spcPct val="108000"/>
              </a:lnSpc>
              <a:spcBef>
                <a:spcPts val="600"/>
              </a:spcBef>
              <a:buClr>
                <a:srgbClr val="0F766E"/>
              </a:buClr>
              <a:buSzPct val="100000"/>
              <a:buChar char="•"/>
            </a:pPr>
            <a:r>
              <a:rPr lang="uz-Latn-UZ" altLang="en-US" sz="2200" dirty="0">
                <a:solidFill>
                  <a:srgbClr val="0F172A"/>
                </a:solidFill>
                <a:latin typeface="Arial" pitchFamily="34" charset="0"/>
                <a:ea typeface="Arial" pitchFamily="34" charset="-122"/>
                <a:cs typeface="Arial" pitchFamily="34" charset="-120"/>
              </a:rPr>
              <a:t>jamgʻarish vositasi va toʻlov vositasi</a:t>
            </a:r>
            <a:endParaRPr lang="uz-Latn-UZ" sz="2200" dirty="0"/>
          </a:p>
        </p:txBody>
      </p:sp>
      <p:sp>
        <p:nvSpPr>
          <p:cNvPr id="8" name="rect7"/>
          <p:cNvSpPr/>
          <p:nvPr/>
        </p:nvSpPr>
        <p:spPr>
          <a:xfrm>
            <a:off x="6279185" y="1563624"/>
            <a:ext cx="5227625" cy="4178808"/>
          </a:xfrm>
          <a:prstGeom prst="roundRect">
            <a:avLst>
              <a:gd name="adj" fmla="val 1313"/>
            </a:avLst>
          </a:prstGeom>
          <a:solidFill>
            <a:srgbClr val="ECFDF5"/>
          </a:solidFill>
          <a:ln/>
        </p:spPr>
      </p:sp>
      <p:sp>
        <p:nvSpPr>
          <p:cNvPr id="9" name="right"/>
          <p:cNvSpPr txBox="1"/>
          <p:nvPr/>
        </p:nvSpPr>
        <p:spPr>
          <a:xfrm>
            <a:off x="6553505" y="1837944"/>
            <a:ext cx="4678985" cy="3648456"/>
          </a:xfrm>
          <a:prstGeom prst="rect">
            <a:avLst/>
          </a:prstGeom>
          <a:noFill/>
          <a:ln/>
        </p:spPr>
        <p:txBody>
          <a:bodyPr wrap="square" lIns="0" tIns="0" rIns="0" bIns="0" rtlCol="0" anchor="t"/>
          <a:lstStyle/>
          <a:p>
            <a:pPr algn="l" indent="0" marL="0">
              <a:lnSpc>
                <a:spcPct val="108000"/>
              </a:lnSpc>
              <a:buNone/>
            </a:pPr>
            <a:r>
              <a:rPr lang="uz-Latn-UZ" altLang="en-US" sz="2200" b="1" dirty="0">
                <a:solidFill>
                  <a:srgbClr val="0F766E"/>
                </a:solidFill>
                <a:latin typeface="Arial" pitchFamily="34" charset="0"/>
                <a:ea typeface="Arial" pitchFamily="34" charset="-122"/>
                <a:cs typeface="Arial" pitchFamily="34" charset="-120"/>
              </a:rPr>
              <a:t>Markaziy bank</a:t>
            </a:r>
            <a:endParaRPr lang="uz-Latn-UZ" sz="2200" dirty="0"/>
          </a:p>
          <a:p>
            <a:pPr algn="l" marL="279400" indent="-279400">
              <a:lnSpc>
                <a:spcPct val="108000"/>
              </a:lnSpc>
              <a:spcBef>
                <a:spcPts val="1100"/>
              </a:spcBef>
              <a:buClr>
                <a:srgbClr val="0F766E"/>
              </a:buClr>
              <a:buSzPct val="100000"/>
              <a:buChar char="•"/>
            </a:pPr>
            <a:r>
              <a:rPr lang="uz-Latn-UZ" altLang="en-US" sz="2200" dirty="0">
                <a:solidFill>
                  <a:srgbClr val="064E3B"/>
                </a:solidFill>
                <a:latin typeface="Arial" pitchFamily="34" charset="0"/>
                <a:ea typeface="Arial" pitchFamily="34" charset="-122"/>
                <a:cs typeface="Arial" pitchFamily="34" charset="-120"/>
              </a:rPr>
              <a:t>Markaziy bank mamlakatning pul-kredit siyosatini amalga oshiradi va milliy valyuta barqarorligini taʼminlashga masʼul boʻladi.</a:t>
            </a:r>
            <a:endParaRPr lang="uz-Latn-UZ" sz="2200" dirty="0"/>
          </a:p>
          <a:p>
            <a:pPr algn="l" marL="279400" indent="-279400">
              <a:lnSpc>
                <a:spcPct val="108000"/>
              </a:lnSpc>
              <a:spcBef>
                <a:spcPts val="1100"/>
              </a:spcBef>
              <a:buClr>
                <a:srgbClr val="0F766E"/>
              </a:buClr>
              <a:buSzPct val="100000"/>
              <a:buChar char="•"/>
            </a:pPr>
            <a:r>
              <a:rPr lang="uz-Latn-UZ" altLang="en-US" sz="2200" dirty="0">
                <a:solidFill>
                  <a:srgbClr val="064E3B"/>
                </a:solidFill>
                <a:latin typeface="Arial" pitchFamily="34" charset="0"/>
                <a:ea typeface="Arial" pitchFamily="34" charset="-122"/>
                <a:cs typeface="Arial" pitchFamily="34" charset="-120"/>
              </a:rPr>
              <a:t>Markaziy bank asosiy stavkani oʻzgartirish orqali iqtisodiyotdagi kredit narxiga taʼsir qiladi.</a:t>
            </a:r>
            <a:endParaRPr lang="uz-Latn-UZ"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Amaliy misol</a:t>
            </a:r>
            <a:endParaRPr lang="uz-Latn-UZ" sz="3400" dirty="0"/>
          </a:p>
        </p:txBody>
      </p:sp>
      <p:sp>
        <p:nvSpPr>
          <p:cNvPr id="3"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Manbalar: [1] iqtisodiyot, sahifa 2 (kitobda: 1); [2] iqtisodiyot, sahifa 5 (kitobda: 4)</a:t>
            </a:r>
            <a:endParaRPr lang="uz-Latn-UZ" sz="1200" dirty="0"/>
          </a:p>
        </p:txBody>
      </p:sp>
      <p:sp>
        <p:nvSpPr>
          <p:cNvPr id="4"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9</a:t>
            </a:r>
            <a:endParaRPr lang="uz-Latn-UZ" sz="1200" dirty="0"/>
          </a:p>
        </p:txBody>
      </p:sp>
      <p:sp>
        <p:nvSpPr>
          <p:cNvPr id="5" name="rect4"/>
          <p:cNvSpPr/>
          <p:nvPr/>
        </p:nvSpPr>
        <p:spPr>
          <a:xfrm>
            <a:off x="685800" y="1295705"/>
            <a:ext cx="10820095" cy="3981298"/>
          </a:xfrm>
          <a:prstGeom prst="roundRect">
            <a:avLst>
              <a:gd name="adj" fmla="val 1378"/>
            </a:avLst>
          </a:prstGeom>
          <a:solidFill>
            <a:srgbClr val="FFFFFF"/>
          </a:solidFill>
          <a:ln w="9525">
            <a:solidFill>
              <a:srgbClr val="E2E8F0"/>
            </a:solidFill>
            <a:prstDash val="solid"/>
          </a:ln>
        </p:spPr>
      </p:sp>
      <p:sp>
        <p:nvSpPr>
          <p:cNvPr id="6" name="body"/>
          <p:cNvSpPr txBox="1"/>
          <p:nvPr/>
        </p:nvSpPr>
        <p:spPr>
          <a:xfrm>
            <a:off x="1005840" y="1615745"/>
            <a:ext cx="10180015" cy="3359506"/>
          </a:xfrm>
          <a:prstGeom prst="rect">
            <a:avLst/>
          </a:prstGeom>
          <a:noFill/>
          <a:ln/>
        </p:spPr>
        <p:txBody>
          <a:bodyPr wrap="square" lIns="0" tIns="0" rIns="0" bIns="0" rtlCol="0" anchor="t"/>
          <a:lstStyle/>
          <a:p>
            <a:pPr algn="l" marL="279400" indent="-279400">
              <a:lnSpc>
                <a:spcPct val="108000"/>
              </a:lnSpc>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Taklifga ishlab chiqarish xarajatlari, texnologiya darajasi, soliqlar va subsidiyalar hamda bozordagi sotuvchilar soni taʼsir koʻrsatadi.</a:t>
            </a:r>
            <a:r>
              <a:rPr lang="uz-Latn-UZ" altLang="en-US" sz="2600" dirty="0">
                <a:solidFill>
                  <a:srgbClr val="475569"/>
                </a:solidFill>
                <a:latin typeface="Arial" pitchFamily="34" charset="0"/>
                <a:ea typeface="Arial" pitchFamily="34" charset="-122"/>
                <a:cs typeface="Arial" pitchFamily="34" charset="-120"/>
              </a:rPr>
              <a:t> [1]</a:t>
            </a:r>
            <a:endParaRPr lang="uz-Latn-UZ" sz="2600" dirty="0"/>
          </a:p>
          <a:p>
            <a:pPr algn="l" lvl="1" marL="558800" indent="-279400">
              <a:lnSpc>
                <a:spcPct val="108000"/>
              </a:lnSpc>
              <a:spcBef>
                <a:spcPts val="700"/>
              </a:spcBef>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Masalan, yangi texnologiya xarajatlarni kamaytirsa, taklif egri chizigʻi oʻngga siljiydi.</a:t>
            </a:r>
            <a:r>
              <a:rPr lang="uz-Latn-UZ" altLang="en-US" sz="2600" dirty="0">
                <a:solidFill>
                  <a:srgbClr val="475569"/>
                </a:solidFill>
                <a:latin typeface="Arial" pitchFamily="34" charset="0"/>
                <a:ea typeface="Arial" pitchFamily="34" charset="-122"/>
                <a:cs typeface="Arial" pitchFamily="34" charset="-120"/>
              </a:rPr>
              <a:t> [1]</a:t>
            </a:r>
            <a:endParaRPr lang="uz-Latn-UZ" sz="2600" dirty="0"/>
          </a:p>
          <a:p>
            <a:pPr algn="l" marL="279400" indent="-279400">
              <a:lnSpc>
                <a:spcPct val="108000"/>
              </a:lnSpc>
              <a:spcBef>
                <a:spcPts val="1300"/>
              </a:spcBef>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Masalan, 2022-yilda indeks 110 ga teng boʻlgani uchun 2021-yilga nisbatan narxlar 10 foizga oshgan.</a:t>
            </a:r>
            <a:r>
              <a:rPr lang="uz-Latn-UZ" altLang="en-US" sz="2600" dirty="0">
                <a:solidFill>
                  <a:srgbClr val="475569"/>
                </a:solidFill>
                <a:latin typeface="Arial" pitchFamily="34" charset="0"/>
                <a:ea typeface="Arial" pitchFamily="34" charset="-122"/>
                <a:cs typeface="Arial" pitchFamily="34" charset="-120"/>
              </a:rPr>
              <a:t> [2]</a:t>
            </a:r>
            <a:endParaRPr lang="uz-Latn-UZ" sz="2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AFC"/>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Xulosa</a:t>
            </a:r>
            <a:endParaRPr lang="uz-Latn-UZ" sz="3400" dirty="0"/>
          </a:p>
        </p:txBody>
      </p:sp>
      <p:sp>
        <p:nvSpPr>
          <p:cNvPr id="3" name="source"/>
          <p:cNvSpPr txBox="1"/>
          <p:nvPr/>
        </p:nvSpPr>
        <p:spPr>
          <a:xfrm>
            <a:off x="685800" y="6327648"/>
            <a:ext cx="9905695" cy="182880"/>
          </a:xfrm>
          <a:prstGeom prst="rect">
            <a:avLst/>
          </a:prstGeom>
          <a:noFill/>
          <a:ln/>
        </p:spPr>
        <p:txBody>
          <a:bodyPr wrap="square" lIns="0" tIns="0" rIns="0" bIns="0" rtlCol="0" anchor="b"/>
          <a:lstStyle/>
          <a:p>
            <a:pPr algn="l"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Manbalar: [1] iqtisodiyot, sahifa 2 (kitobda: 1); [2] iqtisodiyot, sahifa 3 (kitobda: 2); [3] iqtisodiyot, sahifa 4 (kitobda: 3)</a:t>
            </a:r>
            <a:endParaRPr lang="uz-Latn-UZ" sz="1200" dirty="0"/>
          </a:p>
        </p:txBody>
      </p:sp>
      <p:sp>
        <p:nvSpPr>
          <p:cNvPr id="4"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10</a:t>
            </a:r>
            <a:endParaRPr lang="uz-Latn-UZ" sz="1200" dirty="0"/>
          </a:p>
        </p:txBody>
      </p:sp>
      <p:sp>
        <p:nvSpPr>
          <p:cNvPr id="5" name="rect4"/>
          <p:cNvSpPr/>
          <p:nvPr/>
        </p:nvSpPr>
        <p:spPr>
          <a:xfrm>
            <a:off x="685800" y="1295705"/>
            <a:ext cx="10820095" cy="3629254"/>
          </a:xfrm>
          <a:prstGeom prst="roundRect">
            <a:avLst>
              <a:gd name="adj" fmla="val 1512"/>
            </a:avLst>
          </a:prstGeom>
          <a:solidFill>
            <a:srgbClr val="FFFFFF"/>
          </a:solidFill>
          <a:ln w="9525">
            <a:solidFill>
              <a:srgbClr val="E2E8F0"/>
            </a:solidFill>
            <a:prstDash val="solid"/>
          </a:ln>
        </p:spPr>
      </p:sp>
      <p:sp>
        <p:nvSpPr>
          <p:cNvPr id="6" name="body"/>
          <p:cNvSpPr txBox="1"/>
          <p:nvPr/>
        </p:nvSpPr>
        <p:spPr>
          <a:xfrm>
            <a:off x="1005840" y="1615745"/>
            <a:ext cx="10180015" cy="3007462"/>
          </a:xfrm>
          <a:prstGeom prst="rect">
            <a:avLst/>
          </a:prstGeom>
          <a:noFill/>
          <a:ln/>
        </p:spPr>
        <p:txBody>
          <a:bodyPr wrap="square" lIns="0" tIns="0" rIns="0" bIns="0" rtlCol="0" anchor="t"/>
          <a:lstStyle/>
          <a:p>
            <a:pPr algn="l" marL="279400" indent="-279400">
              <a:lnSpc>
                <a:spcPct val="108000"/>
              </a:lnSpc>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Agar narx muvozanat narxidan yuqori boʻlsa, bozorda ortiqcha taklif, yaʼni tovar ortiqchaligi yuzaga keladi.</a:t>
            </a:r>
            <a:r>
              <a:rPr lang="uz-Latn-UZ" altLang="en-US" sz="2600" dirty="0">
                <a:solidFill>
                  <a:srgbClr val="475569"/>
                </a:solidFill>
                <a:latin typeface="Arial" pitchFamily="34" charset="0"/>
                <a:ea typeface="Arial" pitchFamily="34" charset="-122"/>
                <a:cs typeface="Arial" pitchFamily="34" charset="-120"/>
              </a:rPr>
              <a:t> [1]</a:t>
            </a:r>
            <a:endParaRPr lang="uz-Latn-UZ" sz="2600" dirty="0"/>
          </a:p>
          <a:p>
            <a:pPr algn="l" marL="279400" indent="-279400">
              <a:lnSpc>
                <a:spcPct val="108000"/>
              </a:lnSpc>
              <a:spcBef>
                <a:spcPts val="1300"/>
              </a:spcBef>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Inflyatsiya darajasi odatda isteʼmol narxlari indeksi orqali oʻlchanadi.</a:t>
            </a:r>
            <a:r>
              <a:rPr lang="uz-Latn-UZ" altLang="en-US" sz="2600" dirty="0">
                <a:solidFill>
                  <a:srgbClr val="475569"/>
                </a:solidFill>
                <a:latin typeface="Arial" pitchFamily="34" charset="0"/>
                <a:ea typeface="Arial" pitchFamily="34" charset="-122"/>
                <a:cs typeface="Arial" pitchFamily="34" charset="-120"/>
              </a:rPr>
              <a:t> [2]</a:t>
            </a:r>
            <a:endParaRPr lang="uz-Latn-UZ" sz="2600" dirty="0"/>
          </a:p>
          <a:p>
            <a:pPr algn="l" marL="279400" indent="-279400">
              <a:lnSpc>
                <a:spcPct val="108000"/>
              </a:lnSpc>
              <a:spcBef>
                <a:spcPts val="1300"/>
              </a:spcBef>
              <a:buClr>
                <a:srgbClr val="0F766E"/>
              </a:buClr>
              <a:buSzPct val="100000"/>
              <a:buChar char="•"/>
            </a:pPr>
            <a:r>
              <a:rPr lang="uz-Latn-UZ" altLang="en-US" sz="2600" dirty="0">
                <a:solidFill>
                  <a:srgbClr val="0F172A"/>
                </a:solidFill>
                <a:latin typeface="Arial" pitchFamily="34" charset="0"/>
                <a:ea typeface="Arial" pitchFamily="34" charset="-122"/>
                <a:cs typeface="Arial" pitchFamily="34" charset="-120"/>
              </a:rPr>
              <a:t>Tijorat banklari aholi va korxonalardan depozitlar qabul qiladi hamda ularni kredit sifatida beradi.</a:t>
            </a:r>
            <a:r>
              <a:rPr lang="uz-Latn-UZ" altLang="en-US" sz="2600" dirty="0">
                <a:solidFill>
                  <a:srgbClr val="475569"/>
                </a:solidFill>
                <a:latin typeface="Arial" pitchFamily="34" charset="0"/>
                <a:ea typeface="Arial" pitchFamily="34" charset="-122"/>
                <a:cs typeface="Arial" pitchFamily="34" charset="-120"/>
              </a:rPr>
              <a:t> [3]</a:t>
            </a:r>
            <a:endParaRPr lang="uz-Latn-UZ" sz="2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F172A"/>
        </a:solidFill>
      </p:bgPr>
    </p:bg>
    <p:spTree>
      <p:nvGrpSpPr>
        <p:cNvPr id="1" name=""/>
        <p:cNvGrpSpPr/>
        <p:nvPr/>
      </p:nvGrpSpPr>
      <p:grpSpPr>
        <a:xfrm>
          <a:off x="0" y="0"/>
          <a:ext cx="0" cy="0"/>
          <a:chOff x="0" y="0"/>
          <a:chExt cx="0" cy="0"/>
        </a:xfrm>
      </p:grpSpPr>
      <p:sp>
        <p:nvSpPr>
          <p:cNvPr id="2" name="rect1"/>
          <p:cNvSpPr/>
          <p:nvPr/>
        </p:nvSpPr>
        <p:spPr>
          <a:xfrm>
            <a:off x="7985455" y="822960"/>
            <a:ext cx="3291840" cy="3291840"/>
          </a:xfrm>
          <a:prstGeom prst="ellipse">
            <a:avLst/>
          </a:prstGeom>
          <a:solidFill>
            <a:srgbClr val="1E293B"/>
          </a:solidFill>
          <a:ln/>
        </p:spPr>
      </p:sp>
      <p:sp>
        <p:nvSpPr>
          <p:cNvPr id="3" name="rect2"/>
          <p:cNvSpPr/>
          <p:nvPr/>
        </p:nvSpPr>
        <p:spPr>
          <a:xfrm>
            <a:off x="9859975" y="3520440"/>
            <a:ext cx="1828800" cy="1828800"/>
          </a:xfrm>
          <a:prstGeom prst="ellipse">
            <a:avLst/>
          </a:prstGeom>
          <a:solidFill>
            <a:srgbClr val="134E4A"/>
          </a:solidFill>
          <a:ln/>
        </p:spPr>
      </p:sp>
      <p:sp>
        <p:nvSpPr>
          <p:cNvPr id="4" name="title"/>
          <p:cNvSpPr txBox="1"/>
          <p:nvPr/>
        </p:nvSpPr>
        <p:spPr>
          <a:xfrm>
            <a:off x="822960" y="2378354"/>
            <a:ext cx="6888175" cy="670255"/>
          </a:xfrm>
          <a:prstGeom prst="rect">
            <a:avLst/>
          </a:prstGeom>
          <a:noFill/>
          <a:ln/>
        </p:spPr>
        <p:txBody>
          <a:bodyPr wrap="square" lIns="0" tIns="0" rIns="0" bIns="0" rtlCol="0" anchor="t"/>
          <a:lstStyle/>
          <a:p>
            <a:pPr algn="l" indent="0" marL="0">
              <a:lnSpc>
                <a:spcPct val="100000"/>
              </a:lnSpc>
              <a:buNone/>
            </a:pPr>
            <a:r>
              <a:rPr lang="uz-Latn-UZ" altLang="en-US" sz="4400" b="1" dirty="0">
                <a:solidFill>
                  <a:srgbClr val="F8FAFC"/>
                </a:solidFill>
                <a:latin typeface="Arial" pitchFamily="34" charset="0"/>
                <a:ea typeface="Arial" pitchFamily="34" charset="-122"/>
                <a:cs typeface="Arial" pitchFamily="34" charset="-120"/>
              </a:rPr>
              <a:t>Savollar</a:t>
            </a:r>
            <a:endParaRPr lang="uz-Latn-UZ" sz="4400" dirty="0"/>
          </a:p>
        </p:txBody>
      </p:sp>
      <p:sp>
        <p:nvSpPr>
          <p:cNvPr id="5" name="subtitle"/>
          <p:cNvSpPr txBox="1"/>
          <p:nvPr/>
        </p:nvSpPr>
        <p:spPr>
          <a:xfrm>
            <a:off x="822960" y="3323844"/>
            <a:ext cx="6888175" cy="790042"/>
          </a:xfrm>
          <a:prstGeom prst="rect">
            <a:avLst/>
          </a:prstGeom>
          <a:noFill/>
          <a:ln/>
        </p:spPr>
        <p:txBody>
          <a:bodyPr wrap="square" lIns="0" tIns="0" rIns="0" bIns="0" rtlCol="0" anchor="t"/>
          <a:lstStyle/>
          <a:p>
            <a:pPr algn="l" indent="0" marL="0">
              <a:lnSpc>
                <a:spcPct val="108000"/>
              </a:lnSpc>
              <a:buNone/>
            </a:pPr>
            <a:r>
              <a:rPr lang="uz-Latn-UZ" altLang="en-US" sz="2400" dirty="0">
                <a:solidFill>
                  <a:srgbClr val="CBD5E1"/>
                </a:solidFill>
                <a:latin typeface="Arial" pitchFamily="34" charset="0"/>
                <a:ea typeface="Arial" pitchFamily="34" charset="-122"/>
                <a:cs typeface="Arial" pitchFamily="34" charset="-120"/>
              </a:rPr>
              <a:t>Eʼtiboringiz uchun rahmat! Savollaringiz boʻlsa, marhamat.</a:t>
            </a:r>
            <a:endParaRPr lang="uz-Latn-UZ" sz="2400" dirty="0"/>
          </a:p>
        </p:txBody>
      </p:sp>
      <p:sp>
        <p:nvSpPr>
          <p:cNvPr id="6"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CBD5E1"/>
                </a:solidFill>
                <a:latin typeface="Arial" pitchFamily="34" charset="0"/>
                <a:ea typeface="Arial" pitchFamily="34" charset="-122"/>
                <a:cs typeface="Arial" pitchFamily="34" charset="-120"/>
              </a:rPr>
              <a:t>11</a:t>
            </a:r>
            <a:endParaRPr lang="uz-Latn-UZ"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p:bgPr>
    </p:bg>
    <p:spTree>
      <p:nvGrpSpPr>
        <p:cNvPr id="1" name=""/>
        <p:cNvGrpSpPr/>
        <p:nvPr/>
      </p:nvGrpSpPr>
      <p:grpSpPr>
        <a:xfrm>
          <a:off x="0" y="0"/>
          <a:ext cx="0" cy="0"/>
          <a:chOff x="0" y="0"/>
          <a:chExt cx="0" cy="0"/>
        </a:xfrm>
      </p:grpSpPr>
      <p:sp>
        <p:nvSpPr>
          <p:cNvPr id="2" name="title"/>
          <p:cNvSpPr txBox="1"/>
          <p:nvPr/>
        </p:nvSpPr>
        <p:spPr>
          <a:xfrm>
            <a:off x="685800" y="457200"/>
            <a:ext cx="10820095" cy="518465"/>
          </a:xfrm>
          <a:prstGeom prst="rect">
            <a:avLst/>
          </a:prstGeom>
          <a:noFill/>
          <a:ln/>
        </p:spPr>
        <p:txBody>
          <a:bodyPr wrap="square" lIns="0" tIns="0" rIns="0" bIns="0" rtlCol="0" anchor="t"/>
          <a:lstStyle/>
          <a:p>
            <a:pPr algn="l" indent="0" marL="0">
              <a:lnSpc>
                <a:spcPct val="100000"/>
              </a:lnSpc>
              <a:buNone/>
            </a:pPr>
            <a:r>
              <a:rPr lang="uz-Latn-UZ" altLang="en-US" sz="3400" b="1" dirty="0">
                <a:solidFill>
                  <a:srgbClr val="0F172A"/>
                </a:solidFill>
                <a:latin typeface="Arial" pitchFamily="34" charset="0"/>
                <a:ea typeface="Arial" pitchFamily="34" charset="-122"/>
                <a:cs typeface="Arial" pitchFamily="34" charset="-120"/>
              </a:rPr>
              <a:t>Foydalanilgan manbalar</a:t>
            </a:r>
            <a:endParaRPr lang="uz-Latn-UZ" sz="3400" dirty="0"/>
          </a:p>
        </p:txBody>
      </p:sp>
      <p:sp>
        <p:nvSpPr>
          <p:cNvPr id="3" name="page"/>
          <p:cNvSpPr txBox="1"/>
          <p:nvPr/>
        </p:nvSpPr>
        <p:spPr>
          <a:xfrm>
            <a:off x="10774375" y="6327648"/>
            <a:ext cx="731520" cy="182880"/>
          </a:xfrm>
          <a:prstGeom prst="rect">
            <a:avLst/>
          </a:prstGeom>
          <a:noFill/>
          <a:ln/>
        </p:spPr>
        <p:txBody>
          <a:bodyPr wrap="square" lIns="0" tIns="0" rIns="0" bIns="0" rtlCol="0" anchor="b"/>
          <a:lstStyle/>
          <a:p>
            <a:pPr algn="r" indent="0" marL="0">
              <a:lnSpc>
                <a:spcPct val="100000"/>
              </a:lnSpc>
              <a:buNone/>
            </a:pPr>
            <a:r>
              <a:rPr lang="uz-Latn-UZ" altLang="en-US" sz="1200" dirty="0">
                <a:solidFill>
                  <a:srgbClr val="475569"/>
                </a:solidFill>
                <a:latin typeface="Arial" pitchFamily="34" charset="0"/>
                <a:ea typeface="Arial" pitchFamily="34" charset="-122"/>
                <a:cs typeface="Arial" pitchFamily="34" charset="-120"/>
              </a:rPr>
              <a:t>12</a:t>
            </a:r>
            <a:endParaRPr lang="uz-Latn-UZ" sz="1200" dirty="0"/>
          </a:p>
        </p:txBody>
      </p:sp>
      <p:sp>
        <p:nvSpPr>
          <p:cNvPr id="4" name="body"/>
          <p:cNvSpPr txBox="1"/>
          <p:nvPr/>
        </p:nvSpPr>
        <p:spPr>
          <a:xfrm>
            <a:off x="685800" y="1295705"/>
            <a:ext cx="10820095" cy="471830"/>
          </a:xfrm>
          <a:prstGeom prst="rect">
            <a:avLst/>
          </a:prstGeom>
          <a:noFill/>
          <a:ln/>
        </p:spPr>
        <p:txBody>
          <a:bodyPr wrap="square" lIns="0" tIns="0" rIns="0" bIns="0" rtlCol="0" anchor="t"/>
          <a:lstStyle/>
          <a:p>
            <a:pPr algn="l" indent="0" marL="0">
              <a:lnSpc>
                <a:spcPct val="108000"/>
              </a:lnSpc>
              <a:buNone/>
            </a:pPr>
            <a:r>
              <a:rPr lang="uz-Latn-UZ" altLang="en-US" sz="2200" dirty="0">
                <a:solidFill>
                  <a:srgbClr val="0F172A"/>
                </a:solidFill>
                <a:latin typeface="Arial" pitchFamily="34" charset="0"/>
                <a:ea typeface="Arial" pitchFamily="34" charset="-122"/>
                <a:cs typeface="Arial" pitchFamily="34" charset="-120"/>
              </a:rPr>
              <a:t>1. iqtisodiyot / TALABA AI test materiali. — iqtisodiyot.pdf, 5 bet.</a:t>
            </a:r>
            <a:endParaRPr lang="uz-Latn-UZ"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TALABA 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Iqtisodiyot nazariyasi asoslari</dc:title>
  <dc:subject>Iqtisodiyot nazariyasi asoslari</dc:subject>
  <dc:creator>Aliyev Vali</dc:creator>
  <cp:lastModifiedBy>Aliyev Vali</cp:lastModifiedBy>
  <cp:revision>1</cp:revision>
  <dcterms:created xsi:type="dcterms:W3CDTF">2026-10-15T19:49:58Z</dcterms:created>
  <dcterms:modified xsi:type="dcterms:W3CDTF">2026-10-15T19:49:58Z</dcterms:modified>
</cp:coreProperties>
</file>